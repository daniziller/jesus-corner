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3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3261F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33261F"/>
                </a:solidFill>
                <a:latin typeface="Cambria"/>
              </a:rPr>
              <a:t>Apps de bem-estar espiritual — receita global (US$ bi)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Mercado global (US$ bi)</c:v>
                </c:pt>
              </c:strCache>
            </c:strRef>
          </c:tx>
          <c:spPr>
            <a:solidFill>
              <a:srgbClr val="9D430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261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2024</c:v>
                  </c:pt>
                  <c:pt idx="1">
                    <c:v>2026</c:v>
                  </c:pt>
                  <c:pt idx="2">
                    <c:v>2033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2.2</c:v>
                </c:pt>
                <c:pt idx="1">
                  <c:v>2.8</c:v>
                </c:pt>
                <c:pt idx="2">
                  <c:v>7.3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33261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6A6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6A6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Mês 12</c:v>
                </c:pt>
              </c:strCache>
            </c:strRef>
          </c:tx>
          <c:spPr>
            <a:solidFill>
              <a:srgbClr val="9D43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33261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Conservador</c:v>
                  </c:pt>
                  <c:pt idx="1">
                    <c:v>Base</c:v>
                  </c:pt>
                  <c:pt idx="2">
                    <c:v>Otimista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68</c:v>
                </c:pt>
                <c:pt idx="2">
                  <c:v>203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Mês 24</c:v>
                </c:pt>
              </c:strCache>
            </c:strRef>
          </c:tx>
          <c:spPr>
            <a:solidFill>
              <a:srgbClr val="C98A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33261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Conservador</c:v>
                  </c:pt>
                  <c:pt idx="1">
                    <c:v>Base</c:v>
                  </c:pt>
                  <c:pt idx="2">
                    <c:v>Otimista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54</c:v>
                </c:pt>
                <c:pt idx="1">
                  <c:v>203</c:v>
                </c:pt>
                <c:pt idx="2">
                  <c:v>608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50" u="none">
                  <a:solidFill>
                    <a:srgbClr val="33261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6A6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7A6A6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Uso dos recursos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9D4300"/>
              </a:solidFill>
              <a:effectLst/>
            </c:spPr>
          </c:dPt>
          <c:dPt>
            <c:idx val="1"/>
            <c:bubble3D val="0"/>
            <c:spPr>
              <a:solidFill>
                <a:srgbClr val="C0632B"/>
              </a:solidFill>
              <a:effectLst/>
            </c:spPr>
          </c:dPt>
          <c:dPt>
            <c:idx val="2"/>
            <c:bubble3D val="0"/>
            <c:spPr>
              <a:solidFill>
                <a:srgbClr val="C98A3C"/>
              </a:solidFill>
              <a:effectLst/>
            </c:spPr>
          </c:dPt>
          <c:dPt>
            <c:idx val="3"/>
            <c:bubble3D val="0"/>
            <c:spPr>
              <a:solidFill>
                <a:srgbClr val="A98A6B"/>
              </a:solidFill>
              <a:effectLst/>
            </c:spPr>
          </c:dPt>
          <c:dPt>
            <c:idx val="4"/>
            <c:bubble3D val="0"/>
            <c:spPr>
              <a:solidFill>
                <a:srgbClr val="7A6A60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0&quot;%&quot;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Marketing e aquisição</c:v>
                </c:pt>
                <c:pt idx="1">
                  <c:v>Produto e engenharia</c:v>
                </c:pt>
                <c:pt idx="2">
                  <c:v>Conteúdo e licenças</c:v>
                </c:pt>
                <c:pt idx="3">
                  <c:v>Infraestrutura e IA</c:v>
                </c:pt>
                <c:pt idx="4">
                  <c:v>Jurídico e contábil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40</c:v>
                </c:pt>
                <c:pt idx="1">
                  <c:v>25</c:v>
                </c:pt>
                <c:pt idx="2">
                  <c:v>15</c:v>
                </c:pt>
                <c:pt idx="3">
                  <c:v>10</c:v>
                </c:pt>
                <c:pt idx="4">
                  <c:v>10</c:v>
                </c:pt>
              </c:numCache>
            </c:numRef>
          </c:val>
        </c:ser>
        <c:firstSliceAng val="0"/>
        <c:holeSize val="55"/>
      </c:doughnutChart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3261F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em 20 segundos: o app existe, está pronto, roda em três plataformas e cobra em três lojas. A conversa de hoje é sobre acelerar, não sobre construir.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tamanho do público não é a novidade — a novidade é que ninguém atacou o percurso completo em português. Os líderes globais são de acesso, não de método.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 é o coração do produto e o que dá defensabilidade: o algoritmo de divisão por contagem de palavras da versão bíblica, com regras que respeitam o capítulo inteiro.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o investidor só olhar um slide, que seja este: o risco de execução do produto já foi pago. O que resta é risco de distribuição, que é o que o dinheiro resolve.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é onde se justifica o piso do valuation: custo de reposição. Licença de texto bíblico e aprovação nas lojas são barreiras de tempo, não de dinheiro.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IMPORTANTE: preencha as quatro lacunas em amarelo antes de enviar o deck. Se ainda não há nenhum usuário, apague o cartão inteiro e diga na conversa que o lançamento é o primeiro marco do aporte. Não invente número: investidor cobra fonte.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Cuidado com o TAM inflado: o número que convence é o de baixo, o quanto é pequeno o pedaço necessário para o negócio funcionar.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objetivo não é dizer que os outros são ruins — é mostrar que eles vendem outra coisa. YouVersion é grátis e não vai cobrar; isso é oportunidade, não ameaça, porque quem quer método não é atendido lá.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Hallow: US$ 157 mi captados em 6 rodadas, Série C de US$ 50 mi liderada pela Goodwater. Use como prova de mercado, nunca como comparável de valuation.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forte: a receita já pode ser cobrada hoje. A pergunta do investidor vira "quantos usuários você traz", não "quando dá para cobrar".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Deixe explícito que é modelagem, não previsão. Se perguntarem de onde vem o churn de 6%: é referência de mercado para apps de hábito, o app ainda não tem histórico próprio.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o investidor pressionar em cima do churn de 6%, ofereça o teste: os primeiros 90 dias pós-lançamento medem isso, e o aporte pode ser liberado em tranches contra esse marco.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Enfatize que os mecanismos de convite e grupo já estão no código — não é plano, é funcionalidade esperando usuário.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Ordem intencional: primeiro medir retenção, só depois gastar em mídia. Investidor experiente reconhece essa disciplina e ela reduz o risco percebido.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Ancore alto e justifique pelo piso: o investidor não está comprando uma ideia, está comprando 9 a 12 meses de trabalho já entregue. 30% é uma fatia grande para este estágio — só aceite no topo da faixa, ou parcele em tranches.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proporção comunica a tese: o dinheiro não é para construir o produto, é para colocar gente dentro dele.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Ceder 30% neste estágio é bastante diluição: vale negociar tranches, ou 15% agora com opção de mais 15% na próxima etapa. O acordo de sócios importa mais que o percentual.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Feche pedindo o próximo passo concreto: uma demonstração do app ao vivo, com o investidor abrindo o plano no próprio celular.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0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ross-alpha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8686800" y="1051560"/>
            <a:ext cx="4023360" cy="4023360"/>
          </a:xfrm>
          <a:prstGeom prst="rect">
            <a:avLst/>
          </a:prstGeom>
        </p:spPr>
      </p:pic>
      <p:pic>
        <p:nvPicPr>
          <p:cNvPr id="3" name="Image 1" descr="icon-51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4520"/>
            <a:ext cx="1234440" cy="12344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148840" y="1874520"/>
            <a:ext cx="6949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5E9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Jesus' Corner</a:t>
            </a:r>
            <a:endParaRPr lang="en-US" sz="4800" dirty="0"/>
          </a:p>
        </p:txBody>
      </p:sp>
      <p:sp>
        <p:nvSpPr>
          <p:cNvPr id="5" name="Text 1"/>
          <p:cNvSpPr/>
          <p:nvPr/>
        </p:nvSpPr>
        <p:spPr>
          <a:xfrm>
            <a:off x="2148840" y="2670048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0A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método que faz a pessoa terminar a Bíblia — e voltar todo dia.</a:t>
            </a:r>
            <a:endParaRPr lang="en-US" sz="1700" dirty="0"/>
          </a:p>
        </p:txBody>
      </p:sp>
      <p:sp>
        <p:nvSpPr>
          <p:cNvPr id="6" name="Shape 2"/>
          <p:cNvSpPr/>
          <p:nvPr/>
        </p:nvSpPr>
        <p:spPr>
          <a:xfrm>
            <a:off x="640080" y="4160520"/>
            <a:ext cx="6309360" cy="841248"/>
          </a:xfrm>
          <a:prstGeom prst="roundRect">
            <a:avLst>
              <a:gd name="adj" fmla="val 10870"/>
            </a:avLst>
          </a:prstGeom>
          <a:solidFill>
            <a:srgbClr val="2A1712"/>
          </a:solidFill>
          <a:ln w="12700">
            <a:solidFill>
              <a:srgbClr val="C98A3C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960120" y="4160520"/>
            <a:ext cx="5669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8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Proposta de participação societária · 30% do app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640080" y="58064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Agosto de 2026 · Documento confidencial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710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0" b="1" dirty="0">
                <a:solidFill>
                  <a:srgbClr val="9D4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147,6</a:t>
            </a:r>
            <a:endParaRPr lang="en-US" sz="7600" dirty="0"/>
          </a:p>
        </p:txBody>
      </p:sp>
      <p:sp>
        <p:nvSpPr>
          <p:cNvPr id="4" name="Text 2"/>
          <p:cNvSpPr/>
          <p:nvPr/>
        </p:nvSpPr>
        <p:spPr>
          <a:xfrm>
            <a:off x="640080" y="23957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710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milhões de brasileiros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40080" y="2852928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declaram cristãos — 56,7% católicos e 26,9% evangélicos da população de 10 anos ou mais. É o maior público cristão do mundo fora do inglês, e ele consome aplicativo em português.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0" y="1371600"/>
            <a:ext cx="5852160" cy="1298448"/>
          </a:xfrm>
          <a:prstGeom prst="roundRect">
            <a:avLst>
              <a:gd name="adj" fmla="val 6338"/>
            </a:avLst>
          </a:prstGeom>
          <a:solidFill>
            <a:srgbClr val="FAF3EC"/>
          </a:solidFill>
          <a:ln w="9525">
            <a:solidFill>
              <a:srgbClr val="E4D6C8"/>
            </a:solidFill>
            <a:prstDash val="solid"/>
          </a:ln>
          <a:effectLst>
            <a:outerShdw sx="100000" sy="100000" kx="0" ky="0" algn="bl" rotWithShape="0" blurRad="127000" dist="25400" dir="5400000">
              <a:srgbClr val="8A6E5C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37960" y="1517904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10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Ler a Bíblia inteira é a meta que quase ninguém cumpre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37960" y="1938528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intenção reaparece todo janeiro. O plano morre em Levítico e o abandono vira culpa.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0" y="2852928"/>
            <a:ext cx="5852160" cy="1298448"/>
          </a:xfrm>
          <a:prstGeom prst="roundRect">
            <a:avLst>
              <a:gd name="adj" fmla="val 6338"/>
            </a:avLst>
          </a:prstGeom>
          <a:solidFill>
            <a:srgbClr val="FAF3EC"/>
          </a:solidFill>
          <a:ln w="9525">
            <a:solidFill>
              <a:srgbClr val="E4D6C8"/>
            </a:solidFill>
            <a:prstDash val="solid"/>
          </a:ln>
          <a:effectLst>
            <a:outerShdw sx="100000" sy="100000" kx="0" ky="0" algn="bl" rotWithShape="0" blurRad="127000" dist="25400" dir="5400000">
              <a:srgbClr val="8A6E5C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37960" y="2999232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10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obstáculo não é vontade — é método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37960" y="3419856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ler hoje? Onde parar? Quanto falta? Sem essas respostas, a leitura vira sorteio de versículo.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0" y="4334256"/>
            <a:ext cx="5852160" cy="1298448"/>
          </a:xfrm>
          <a:prstGeom prst="roundRect">
            <a:avLst>
              <a:gd name="adj" fmla="val 6338"/>
            </a:avLst>
          </a:prstGeom>
          <a:solidFill>
            <a:srgbClr val="FAF3EC"/>
          </a:solidFill>
          <a:ln w="9525">
            <a:solidFill>
              <a:srgbClr val="E4D6C8"/>
            </a:solidFill>
            <a:prstDash val="solid"/>
          </a:ln>
          <a:effectLst>
            <a:outerShdw sx="100000" sy="100000" kx="0" ky="0" algn="bl" rotWithShape="0" blurRad="127000" dist="25400" dir="5400000">
              <a:srgbClr val="8A6E5C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37960" y="4480560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10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apps líderes resolvem o acesso, não o percurso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37960" y="4901184"/>
            <a:ext cx="4846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Entregam o texto e o versículo do dia. Nenhum entrega um plano de fôlego com constância medida.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315968"/>
            <a:ext cx="4572000" cy="1417320"/>
          </a:xfrm>
          <a:prstGeom prst="roundRect">
            <a:avLst>
              <a:gd name="adj" fmla="val 5806"/>
            </a:avLst>
          </a:prstGeom>
          <a:solidFill>
            <a:srgbClr val="F5E9DE"/>
          </a:solidFill>
          <a:ln w="9525">
            <a:solidFill>
              <a:srgbClr val="E0CDBB"/>
            </a:solidFill>
            <a:prstDash val="solid"/>
          </a:ln>
          <a:effectLst>
            <a:outerShdw sx="100000" sy="100000" kx="0" ky="0" algn="bl" rotWithShape="0" blurRad="127000" dist="25400" dir="5400000">
              <a:srgbClr val="8A6E5C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60120" y="4315968"/>
            <a:ext cx="3931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27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Ninguém precisa ser convencido a querer ler a Bíblia. Precisa de um caminho que caiba no dia — e de alguém contando os dias junto.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943600" y="1627632"/>
            <a:ext cx="420624" cy="420624"/>
          </a:xfrm>
          <a:prstGeom prst="ellipse">
            <a:avLst/>
          </a:prstGeom>
          <a:solidFill>
            <a:srgbClr val="9D4300"/>
          </a:solidFill>
          <a:ln w="12700">
            <a:solidFill>
              <a:srgbClr val="9D4300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2962" y="1736994"/>
            <a:ext cx="201900" cy="201900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5943600" y="3108960"/>
            <a:ext cx="420624" cy="420624"/>
          </a:xfrm>
          <a:prstGeom prst="ellipse">
            <a:avLst/>
          </a:prstGeom>
          <a:solidFill>
            <a:srgbClr val="9D4300"/>
          </a:solidFill>
          <a:ln w="12700">
            <a:solidFill>
              <a:srgbClr val="9D4300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2962" y="3218322"/>
            <a:ext cx="201900" cy="20190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5943600" y="4590288"/>
            <a:ext cx="420624" cy="420624"/>
          </a:xfrm>
          <a:prstGeom prst="ellipse">
            <a:avLst/>
          </a:prstGeom>
          <a:solidFill>
            <a:srgbClr val="9D4300"/>
          </a:solidFill>
          <a:ln w="12700">
            <a:solidFill>
              <a:srgbClr val="9D4300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2962" y="4699650"/>
            <a:ext cx="201900" cy="2019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40080" y="62910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IBGE, Censo 2022 (divulgação de religião, junho de 2025).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710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solução: um método, não um catálogo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969264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app decide por você o que ler hoje — e prova que você voltou.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2542032" cy="2788920"/>
          </a:xfrm>
          <a:prstGeom prst="roundRect">
            <a:avLst>
              <a:gd name="adj" fmla="val 3237"/>
            </a:avLst>
          </a:prstGeom>
          <a:solidFill>
            <a:srgbClr val="FAF3EC"/>
          </a:solidFill>
          <a:ln w="9525">
            <a:solidFill>
              <a:srgbClr val="E4D6C8"/>
            </a:solidFill>
            <a:prstDash val="solid"/>
          </a:ln>
          <a:effectLst>
            <a:outerShdw sx="100000" sy="100000" kx="0" ky="0" algn="bl" rotWithShape="0" blurRad="127000" dist="25400" dir="5400000">
              <a:srgbClr val="8A6E5C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810512"/>
            <a:ext cx="457200" cy="457200"/>
          </a:xfrm>
          <a:prstGeom prst="ellipse">
            <a:avLst/>
          </a:prstGeom>
          <a:solidFill>
            <a:srgbClr val="9D4300"/>
          </a:solidFill>
          <a:ln w="12700">
            <a:solidFill>
              <a:srgbClr val="9D43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E9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9D4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blocos temáticos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14400" y="2852928"/>
            <a:ext cx="2011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Bíblia inteira dividida em 8 percursos com começo, meio e fim — do Pentateuco às Cartas — mais o plano cronológico.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10712" y="1572768"/>
            <a:ext cx="2542032" cy="2788920"/>
          </a:xfrm>
          <a:prstGeom prst="roundRect">
            <a:avLst>
              <a:gd name="adj" fmla="val 3237"/>
            </a:avLst>
          </a:prstGeom>
          <a:solidFill>
            <a:srgbClr val="FAF3EC"/>
          </a:solidFill>
          <a:ln w="9525">
            <a:solidFill>
              <a:srgbClr val="E4D6C8"/>
            </a:solidFill>
            <a:prstDash val="solid"/>
          </a:ln>
          <a:effectLst>
            <a:outerShdw sx="100000" sy="100000" kx="0" ky="0" algn="bl" rotWithShape="0" blurRad="127000" dist="25400" dir="5400000">
              <a:srgbClr val="8A6E5C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85032" y="1810512"/>
            <a:ext cx="457200" cy="457200"/>
          </a:xfrm>
          <a:prstGeom prst="ellipse">
            <a:avLst/>
          </a:prstGeom>
          <a:solidFill>
            <a:srgbClr val="9D4300"/>
          </a:solidFill>
          <a:ln w="12700">
            <a:solidFill>
              <a:srgbClr val="9D43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85032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E9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685032" y="237744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9D4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ritmos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3685032" y="2852928"/>
            <a:ext cx="2011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Leve, Padrão ou Intensivo. O ritmo não muda quantos dias você lê: muda o tamanho da sessão de cada dia.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81344" y="1572768"/>
            <a:ext cx="2542032" cy="2788920"/>
          </a:xfrm>
          <a:prstGeom prst="roundRect">
            <a:avLst>
              <a:gd name="adj" fmla="val 3237"/>
            </a:avLst>
          </a:prstGeom>
          <a:solidFill>
            <a:srgbClr val="FAF3EC"/>
          </a:solidFill>
          <a:ln w="9525">
            <a:solidFill>
              <a:srgbClr val="E4D6C8"/>
            </a:solidFill>
            <a:prstDash val="solid"/>
          </a:ln>
          <a:effectLst>
            <a:outerShdw sx="100000" sy="100000" kx="0" ky="0" algn="bl" rotWithShape="0" blurRad="127000" dist="25400" dir="5400000">
              <a:srgbClr val="8A6E5C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55664" y="1810512"/>
            <a:ext cx="457200" cy="457200"/>
          </a:xfrm>
          <a:prstGeom prst="ellipse">
            <a:avLst/>
          </a:prstGeom>
          <a:solidFill>
            <a:srgbClr val="9D4300"/>
          </a:solidFill>
          <a:ln w="12700">
            <a:solidFill>
              <a:srgbClr val="9D43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55664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E9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55664" y="237744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9D4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sessão = 1 dia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6455664" y="2852928"/>
            <a:ext cx="2011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sessão nunca corta um capítulo no meio. Abriu o app, já sabe exatamente o que ler e quanto falta para o fim.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951976" y="1572768"/>
            <a:ext cx="2542032" cy="2788920"/>
          </a:xfrm>
          <a:prstGeom prst="roundRect">
            <a:avLst>
              <a:gd name="adj" fmla="val 3237"/>
            </a:avLst>
          </a:prstGeom>
          <a:solidFill>
            <a:srgbClr val="FAF3EC"/>
          </a:solidFill>
          <a:ln w="9525">
            <a:solidFill>
              <a:srgbClr val="E4D6C8"/>
            </a:solidFill>
            <a:prstDash val="solid"/>
          </a:ln>
          <a:effectLst>
            <a:outerShdw sx="100000" sy="100000" kx="0" ky="0" algn="bl" rotWithShape="0" blurRad="127000" dist="25400" dir="5400000">
              <a:srgbClr val="8A6E5C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26296" y="1810512"/>
            <a:ext cx="457200" cy="457200"/>
          </a:xfrm>
          <a:prstGeom prst="ellipse">
            <a:avLst/>
          </a:prstGeom>
          <a:solidFill>
            <a:srgbClr val="9D4300"/>
          </a:solidFill>
          <a:ln w="12700">
            <a:solidFill>
              <a:srgbClr val="9D43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26296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E9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226296" y="237744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9D4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Rotina diária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9226296" y="2852928"/>
            <a:ext cx="2011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Oração, Leitura e Reflexão num fluxo só, com anel de constância, sequência, XP e metas pessoais.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4983480"/>
            <a:ext cx="10881360" cy="1005840"/>
          </a:xfrm>
          <a:prstGeom prst="roundRect">
            <a:avLst>
              <a:gd name="adj" fmla="val 8182"/>
            </a:avLst>
          </a:prstGeom>
          <a:solidFill>
            <a:srgbClr val="F5E9DE"/>
          </a:solidFill>
          <a:ln w="9525">
            <a:solidFill>
              <a:srgbClr val="E0CDBB"/>
            </a:solidFill>
            <a:prstDash val="solid"/>
          </a:ln>
          <a:effectLst>
            <a:outerShdw sx="100000" sy="100000" kx="0" ky="0" algn="bl" rotWithShape="0" blurRad="127000" dist="25400" dir="5400000">
              <a:srgbClr val="8A6E5C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005840" y="4983480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progresso é gravado por capítulo lido, não por sessão. Trocar de ritmo no meio do caminho não apaga um dia sequer — detalhe pequeno que é exatamente onde os planos concorrentes quebram a confiança do usuário.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710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Isto não é uma ideia. É um app pronto.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969264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abaixo já está escrito, integrado e rodando — não é roadmap.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3474720" cy="1609344"/>
          </a:xfrm>
          <a:prstGeom prst="roundRect">
            <a:avLst>
              <a:gd name="adj" fmla="val 5114"/>
            </a:avLst>
          </a:prstGeom>
          <a:solidFill>
            <a:srgbClr val="FAF3EC"/>
          </a:solidFill>
          <a:ln w="9525">
            <a:solidFill>
              <a:srgbClr val="E4D6C8"/>
            </a:solidFill>
            <a:prstDash val="solid"/>
          </a:ln>
          <a:effectLst>
            <a:outerShdw sx="100000" sy="100000" kx="0" ky="0" algn="bl" rotWithShape="0" blurRad="127000" dist="25400" dir="5400000">
              <a:srgbClr val="8A6E5C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865376"/>
            <a:ext cx="384048" cy="384048"/>
          </a:xfrm>
          <a:prstGeom prst="ellipse">
            <a:avLst/>
          </a:prstGeom>
          <a:solidFill>
            <a:srgbClr val="9D4300"/>
          </a:solidFill>
          <a:ln w="12700">
            <a:solidFill>
              <a:srgbClr val="9D430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964" y="1965228"/>
            <a:ext cx="184343" cy="18434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89888" y="184708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0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Bíblia licenciada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96112" y="2340864"/>
            <a:ext cx="29626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NVT em português e NLT em inglês, via API.Bible, com o texto disponível dentro do app.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43400" y="1627632"/>
            <a:ext cx="3474720" cy="1609344"/>
          </a:xfrm>
          <a:prstGeom prst="roundRect">
            <a:avLst>
              <a:gd name="adj" fmla="val 5114"/>
            </a:avLst>
          </a:prstGeom>
          <a:solidFill>
            <a:srgbClr val="FAF3EC"/>
          </a:solidFill>
          <a:ln w="9525">
            <a:solidFill>
              <a:srgbClr val="E4D6C8"/>
            </a:solidFill>
            <a:prstDash val="solid"/>
          </a:ln>
          <a:effectLst>
            <a:outerShdw sx="100000" sy="100000" kx="0" ky="0" algn="bl" rotWithShape="0" blurRad="127000" dist="25400" dir="5400000">
              <a:srgbClr val="8A6E5C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9432" y="1865376"/>
            <a:ext cx="384048" cy="384048"/>
          </a:xfrm>
          <a:prstGeom prst="ellipse">
            <a:avLst/>
          </a:prstGeom>
          <a:solidFill>
            <a:srgbClr val="9D4300"/>
          </a:solidFill>
          <a:ln w="12700">
            <a:solidFill>
              <a:srgbClr val="9D430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9284" y="1965228"/>
            <a:ext cx="184343" cy="18434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93208" y="184708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0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Meu Plano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99432" y="2340864"/>
            <a:ext cx="29626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Rotina passo a passo configurável, estudo guiado e cronograma até o fim da Bíblia.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46720" y="1627632"/>
            <a:ext cx="3474720" cy="1609344"/>
          </a:xfrm>
          <a:prstGeom prst="roundRect">
            <a:avLst>
              <a:gd name="adj" fmla="val 5114"/>
            </a:avLst>
          </a:prstGeom>
          <a:solidFill>
            <a:srgbClr val="FAF3EC"/>
          </a:solidFill>
          <a:ln w="9525">
            <a:solidFill>
              <a:srgbClr val="E4D6C8"/>
            </a:solidFill>
            <a:prstDash val="solid"/>
          </a:ln>
          <a:effectLst>
            <a:outerShdw sx="100000" sy="100000" kx="0" ky="0" algn="bl" rotWithShape="0" blurRad="127000" dist="25400" dir="5400000">
              <a:srgbClr val="8A6E5C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02752" y="1865376"/>
            <a:ext cx="384048" cy="384048"/>
          </a:xfrm>
          <a:prstGeom prst="ellipse">
            <a:avLst/>
          </a:prstGeom>
          <a:solidFill>
            <a:srgbClr val="9D4300"/>
          </a:solidFill>
          <a:ln w="12700">
            <a:solidFill>
              <a:srgbClr val="9D430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2604" y="1965228"/>
            <a:ext cx="184343" cy="18434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796528" y="184708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0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Oração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302752" y="2340864"/>
            <a:ext cx="29626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Cronômetro, método ACTS e pedidos de oração com registro de resposta.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40080" y="3438144"/>
            <a:ext cx="3474720" cy="1609344"/>
          </a:xfrm>
          <a:prstGeom prst="roundRect">
            <a:avLst>
              <a:gd name="adj" fmla="val 5114"/>
            </a:avLst>
          </a:prstGeom>
          <a:solidFill>
            <a:srgbClr val="FAF3EC"/>
          </a:solidFill>
          <a:ln w="9525">
            <a:solidFill>
              <a:srgbClr val="E4D6C8"/>
            </a:solidFill>
            <a:prstDash val="solid"/>
          </a:ln>
          <a:effectLst>
            <a:outerShdw sx="100000" sy="100000" kx="0" ky="0" algn="bl" rotWithShape="0" blurRad="127000" dist="25400" dir="5400000">
              <a:srgbClr val="8A6E5C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96112" y="3675888"/>
            <a:ext cx="384048" cy="384048"/>
          </a:xfrm>
          <a:prstGeom prst="ellipse">
            <a:avLst/>
          </a:prstGeom>
          <a:solidFill>
            <a:srgbClr val="9D4300"/>
          </a:solidFill>
          <a:ln w="12700">
            <a:solidFill>
              <a:srgbClr val="9D4300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964" y="3775740"/>
            <a:ext cx="184343" cy="18434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89888" y="365760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0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Notas e marcações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896112" y="4151376"/>
            <a:ext cx="29626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cores de marcação, busca por palavra e busca por tema com IA.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43400" y="3438144"/>
            <a:ext cx="3474720" cy="1609344"/>
          </a:xfrm>
          <a:prstGeom prst="roundRect">
            <a:avLst>
              <a:gd name="adj" fmla="val 5114"/>
            </a:avLst>
          </a:prstGeom>
          <a:solidFill>
            <a:srgbClr val="FAF3EC"/>
          </a:solidFill>
          <a:ln w="9525">
            <a:solidFill>
              <a:srgbClr val="E4D6C8"/>
            </a:solidFill>
            <a:prstDash val="solid"/>
          </a:ln>
          <a:effectLst>
            <a:outerShdw sx="100000" sy="100000" kx="0" ky="0" algn="bl" rotWithShape="0" blurRad="127000" dist="25400" dir="5400000">
              <a:srgbClr val="8A6E5C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99432" y="3675888"/>
            <a:ext cx="384048" cy="384048"/>
          </a:xfrm>
          <a:prstGeom prst="ellipse">
            <a:avLst/>
          </a:prstGeom>
          <a:solidFill>
            <a:srgbClr val="9D4300"/>
          </a:solidFill>
          <a:ln w="12700">
            <a:solidFill>
              <a:srgbClr val="9D4300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9284" y="3775740"/>
            <a:ext cx="184343" cy="18434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093208" y="365760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0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Estudos com IA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599432" y="4151376"/>
            <a:ext cx="29626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 novo por tema gerado sob demanda e conversa sobre o trecho que está sendo lido.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046720" y="3438144"/>
            <a:ext cx="3474720" cy="1609344"/>
          </a:xfrm>
          <a:prstGeom prst="roundRect">
            <a:avLst>
              <a:gd name="adj" fmla="val 5114"/>
            </a:avLst>
          </a:prstGeom>
          <a:solidFill>
            <a:srgbClr val="FAF3EC"/>
          </a:solidFill>
          <a:ln w="9525">
            <a:solidFill>
              <a:srgbClr val="E4D6C8"/>
            </a:solidFill>
            <a:prstDash val="solid"/>
          </a:ln>
          <a:effectLst>
            <a:outerShdw sx="100000" sy="100000" kx="0" ky="0" algn="bl" rotWithShape="0" blurRad="127000" dist="25400" dir="5400000">
              <a:srgbClr val="8A6E5C">
                <a:alpha val="1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02752" y="3675888"/>
            <a:ext cx="384048" cy="384048"/>
          </a:xfrm>
          <a:prstGeom prst="ellipse">
            <a:avLst/>
          </a:prstGeom>
          <a:solidFill>
            <a:srgbClr val="9D4300"/>
          </a:solidFill>
          <a:ln w="12700">
            <a:solidFill>
              <a:srgbClr val="9D4300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2604" y="3775740"/>
            <a:ext cx="184343" cy="18434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796528" y="365760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0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Grupos e amigos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302752" y="4151376"/>
            <a:ext cx="29626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de leitura, desafios, comentários, pedidos coletivos e convites com desconto.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640080" y="5394960"/>
            <a:ext cx="2542032" cy="786384"/>
          </a:xfrm>
          <a:prstGeom prst="roundRect">
            <a:avLst>
              <a:gd name="adj" fmla="val 10465"/>
            </a:avLst>
          </a:prstGeom>
          <a:solidFill>
            <a:srgbClr val="F5E9DE"/>
          </a:solidFill>
          <a:ln w="9525">
            <a:solidFill>
              <a:srgbClr val="E0CDBB"/>
            </a:solidFill>
            <a:prstDash val="solid"/>
          </a:ln>
          <a:effectLst>
            <a:outerShdw sx="100000" sy="100000" kx="0" ky="0" algn="bl" rotWithShape="0" blurRad="127000" dist="25400" dir="5400000">
              <a:srgbClr val="8A6E5C">
                <a:alpha val="16000"/>
              </a:srgbClr>
            </a:outerShdw>
          </a:effectLst>
        </p:spPr>
      </p:sp>
      <p:sp>
        <p:nvSpPr>
          <p:cNvPr id="35" name="Text 27"/>
          <p:cNvSpPr/>
          <p:nvPr/>
        </p:nvSpPr>
        <p:spPr>
          <a:xfrm>
            <a:off x="822960" y="547725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9D4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166 arquivos · 33.456 linhas</a:t>
            </a:r>
            <a:endParaRPr lang="en-US" sz="1300" dirty="0"/>
          </a:p>
        </p:txBody>
      </p:sp>
      <p:sp>
        <p:nvSpPr>
          <p:cNvPr id="36" name="Text 28"/>
          <p:cNvSpPr/>
          <p:nvPr/>
        </p:nvSpPr>
        <p:spPr>
          <a:xfrm>
            <a:off x="822960" y="57698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código em produção</a:t>
            </a:r>
            <a:endParaRPr lang="en-US" sz="1050" dirty="0"/>
          </a:p>
        </p:txBody>
      </p:sp>
      <p:sp>
        <p:nvSpPr>
          <p:cNvPr id="37" name="Shape 29"/>
          <p:cNvSpPr/>
          <p:nvPr/>
        </p:nvSpPr>
        <p:spPr>
          <a:xfrm>
            <a:off x="3410712" y="5394960"/>
            <a:ext cx="2542032" cy="786384"/>
          </a:xfrm>
          <a:prstGeom prst="roundRect">
            <a:avLst>
              <a:gd name="adj" fmla="val 10465"/>
            </a:avLst>
          </a:prstGeom>
          <a:solidFill>
            <a:srgbClr val="F5E9DE"/>
          </a:solidFill>
          <a:ln w="9525">
            <a:solidFill>
              <a:srgbClr val="E0CDBB"/>
            </a:solidFill>
            <a:prstDash val="solid"/>
          </a:ln>
          <a:effectLst>
            <a:outerShdw sx="100000" sy="100000" kx="0" ky="0" algn="bl" rotWithShape="0" blurRad="127000" dist="25400" dir="5400000">
              <a:srgbClr val="8A6E5C">
                <a:alpha val="16000"/>
              </a:srgbClr>
            </a:outerShdw>
          </a:effectLst>
        </p:spPr>
      </p:sp>
      <p:sp>
        <p:nvSpPr>
          <p:cNvPr id="38" name="Text 30"/>
          <p:cNvSpPr/>
          <p:nvPr/>
        </p:nvSpPr>
        <p:spPr>
          <a:xfrm>
            <a:off x="3593592" y="547725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9D4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PWA + Android + iOS</a:t>
            </a:r>
            <a:endParaRPr lang="en-US" sz="1300" dirty="0"/>
          </a:p>
        </p:txBody>
      </p:sp>
      <p:sp>
        <p:nvSpPr>
          <p:cNvPr id="39" name="Text 31"/>
          <p:cNvSpPr/>
          <p:nvPr/>
        </p:nvSpPr>
        <p:spPr>
          <a:xfrm>
            <a:off x="3593592" y="57698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código, três lojas</a:t>
            </a:r>
            <a:endParaRPr lang="en-US" sz="1050" dirty="0"/>
          </a:p>
        </p:txBody>
      </p:sp>
      <p:sp>
        <p:nvSpPr>
          <p:cNvPr id="40" name="Shape 32"/>
          <p:cNvSpPr/>
          <p:nvPr/>
        </p:nvSpPr>
        <p:spPr>
          <a:xfrm>
            <a:off x="6181344" y="5394960"/>
            <a:ext cx="2542032" cy="786384"/>
          </a:xfrm>
          <a:prstGeom prst="roundRect">
            <a:avLst>
              <a:gd name="adj" fmla="val 10465"/>
            </a:avLst>
          </a:prstGeom>
          <a:solidFill>
            <a:srgbClr val="F5E9DE"/>
          </a:solidFill>
          <a:ln w="9525">
            <a:solidFill>
              <a:srgbClr val="E0CDBB"/>
            </a:solidFill>
            <a:prstDash val="solid"/>
          </a:ln>
          <a:effectLst>
            <a:outerShdw sx="100000" sy="100000" kx="0" ky="0" algn="bl" rotWithShape="0" blurRad="127000" dist="25400" dir="5400000">
              <a:srgbClr val="8A6E5C">
                <a:alpha val="16000"/>
              </a:srgbClr>
            </a:outerShdw>
          </a:effectLst>
        </p:spPr>
      </p:sp>
      <p:sp>
        <p:nvSpPr>
          <p:cNvPr id="41" name="Text 33"/>
          <p:cNvSpPr/>
          <p:nvPr/>
        </p:nvSpPr>
        <p:spPr>
          <a:xfrm>
            <a:off x="6364224" y="547725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9D4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Português e inglês</a:t>
            </a:r>
            <a:endParaRPr lang="en-US" sz="1300" dirty="0"/>
          </a:p>
        </p:txBody>
      </p:sp>
      <p:sp>
        <p:nvSpPr>
          <p:cNvPr id="42" name="Text 34"/>
          <p:cNvSpPr/>
          <p:nvPr/>
        </p:nvSpPr>
        <p:spPr>
          <a:xfrm>
            <a:off x="6364224" y="57698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e texto bíblico</a:t>
            </a:r>
            <a:endParaRPr lang="en-US" sz="1050" dirty="0"/>
          </a:p>
        </p:txBody>
      </p:sp>
      <p:sp>
        <p:nvSpPr>
          <p:cNvPr id="43" name="Shape 35"/>
          <p:cNvSpPr/>
          <p:nvPr/>
        </p:nvSpPr>
        <p:spPr>
          <a:xfrm>
            <a:off x="8951976" y="5394960"/>
            <a:ext cx="2542032" cy="786384"/>
          </a:xfrm>
          <a:prstGeom prst="roundRect">
            <a:avLst>
              <a:gd name="adj" fmla="val 10465"/>
            </a:avLst>
          </a:prstGeom>
          <a:solidFill>
            <a:srgbClr val="F5E9DE"/>
          </a:solidFill>
          <a:ln w="9525">
            <a:solidFill>
              <a:srgbClr val="E0CDBB"/>
            </a:solidFill>
            <a:prstDash val="solid"/>
          </a:ln>
          <a:effectLst>
            <a:outerShdw sx="100000" sy="100000" kx="0" ky="0" algn="bl" rotWithShape="0" blurRad="127000" dist="25400" dir="5400000">
              <a:srgbClr val="8A6E5C">
                <a:alpha val="16000"/>
              </a:srgbClr>
            </a:outerShdw>
          </a:effectLst>
        </p:spPr>
      </p:sp>
      <p:sp>
        <p:nvSpPr>
          <p:cNvPr id="44" name="Text 36"/>
          <p:cNvSpPr/>
          <p:nvPr/>
        </p:nvSpPr>
        <p:spPr>
          <a:xfrm>
            <a:off x="9134856" y="547725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9D4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Painel administrativo</a:t>
            </a:r>
            <a:endParaRPr lang="en-US" sz="1300" dirty="0"/>
          </a:p>
        </p:txBody>
      </p:sp>
      <p:sp>
        <p:nvSpPr>
          <p:cNvPr id="45" name="Text 37"/>
          <p:cNvSpPr/>
          <p:nvPr/>
        </p:nvSpPr>
        <p:spPr>
          <a:xfrm>
            <a:off x="9134856" y="57698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métricas, convites e suporte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10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5E9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já está construído — e é o que custa caro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969264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C0A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parte invisível do app é a que leva meses e derruba a maioria dos projetos.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542032" cy="2743200"/>
          </a:xfrm>
          <a:prstGeom prst="roundRect">
            <a:avLst>
              <a:gd name="adj" fmla="val 3237"/>
            </a:avLst>
          </a:prstGeom>
          <a:solidFill>
            <a:srgbClr val="2A1712"/>
          </a:solidFill>
          <a:ln w="9525">
            <a:solidFill>
              <a:srgbClr val="4A2E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938528"/>
            <a:ext cx="420624" cy="420624"/>
          </a:xfrm>
          <a:prstGeom prst="ellipse">
            <a:avLst/>
          </a:prstGeom>
          <a:solidFill>
            <a:srgbClr val="C98A3C"/>
          </a:solidFill>
          <a:ln w="12700">
            <a:solidFill>
              <a:srgbClr val="C98A3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3762" y="2047890"/>
            <a:ext cx="201900" cy="201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4871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F5E9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Pagamentos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914400" y="2889504"/>
            <a:ext cx="20116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0A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no site, Google Play Billing e Apple StoreKit nos apps. Webhooks, verificação de compra, renovação e portal do assinante — os três trilhos integrados.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410712" y="1691640"/>
            <a:ext cx="2542032" cy="2743200"/>
          </a:xfrm>
          <a:prstGeom prst="roundRect">
            <a:avLst>
              <a:gd name="adj" fmla="val 3237"/>
            </a:avLst>
          </a:prstGeom>
          <a:solidFill>
            <a:srgbClr val="2A1712"/>
          </a:solidFill>
          <a:ln w="9525">
            <a:solidFill>
              <a:srgbClr val="4A2E2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85032" y="1938528"/>
            <a:ext cx="420624" cy="420624"/>
          </a:xfrm>
          <a:prstGeom prst="ellipse">
            <a:avLst/>
          </a:prstGeom>
          <a:solidFill>
            <a:srgbClr val="C98A3C"/>
          </a:solidFill>
          <a:ln w="12700">
            <a:solidFill>
              <a:srgbClr val="C98A3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394" y="2047890"/>
            <a:ext cx="201900" cy="2019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85032" y="24871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F5E9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 e dados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3685032" y="2889504"/>
            <a:ext cx="20116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0A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com Postgres e autenticação, sincronização entre dispositivos, recuperação por código, exportação e exclusão de conta pelo próprio usuário.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81344" y="1691640"/>
            <a:ext cx="2542032" cy="2743200"/>
          </a:xfrm>
          <a:prstGeom prst="roundRect">
            <a:avLst>
              <a:gd name="adj" fmla="val 3237"/>
            </a:avLst>
          </a:prstGeom>
          <a:solidFill>
            <a:srgbClr val="2A1712"/>
          </a:solidFill>
          <a:ln w="9525">
            <a:solidFill>
              <a:srgbClr val="4A2E2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455664" y="1938528"/>
            <a:ext cx="420624" cy="420624"/>
          </a:xfrm>
          <a:prstGeom prst="ellipse">
            <a:avLst/>
          </a:prstGeom>
          <a:solidFill>
            <a:srgbClr val="C98A3C"/>
          </a:solidFill>
          <a:ln w="12700">
            <a:solidFill>
              <a:srgbClr val="C98A3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026" y="2047890"/>
            <a:ext cx="201900" cy="2019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55664" y="24871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F5E9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Distribuição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6455664" y="2889504"/>
            <a:ext cx="20116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0A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instalável, projeto TWA para o Android e shell Capacitor para o iOS. Um código-fonte, três canais de distribuição.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8951976" y="1691640"/>
            <a:ext cx="2542032" cy="2743200"/>
          </a:xfrm>
          <a:prstGeom prst="roundRect">
            <a:avLst>
              <a:gd name="adj" fmla="val 3237"/>
            </a:avLst>
          </a:prstGeom>
          <a:solidFill>
            <a:srgbClr val="2A1712"/>
          </a:solidFill>
          <a:ln w="9525">
            <a:solidFill>
              <a:srgbClr val="4A2E24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226296" y="1938528"/>
            <a:ext cx="420624" cy="420624"/>
          </a:xfrm>
          <a:prstGeom prst="ellipse">
            <a:avLst/>
          </a:prstGeom>
          <a:solidFill>
            <a:srgbClr val="C98A3C"/>
          </a:solidFill>
          <a:ln w="12700">
            <a:solidFill>
              <a:srgbClr val="C98A3C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5658" y="2047890"/>
            <a:ext cx="201900" cy="2019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26296" y="24871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F5E9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Conformidade</a:t>
            </a:r>
            <a:endParaRPr lang="en-US" sz="1650" dirty="0"/>
          </a:p>
        </p:txBody>
      </p:sp>
      <p:sp>
        <p:nvSpPr>
          <p:cNvPr id="23" name="Text 17"/>
          <p:cNvSpPr/>
          <p:nvPr/>
        </p:nvSpPr>
        <p:spPr>
          <a:xfrm>
            <a:off x="9226296" y="2889504"/>
            <a:ext cx="20116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0A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Levantamento de LGPD feito sobre o código: convicção religiosa é dado sensível, e o app já trata consentimento específico e registro de aceite.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640080" y="480060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241511"/>
          </a:solidFill>
          <a:ln w="12700">
            <a:solidFill>
              <a:srgbClr val="C98A3C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1005840" y="4800600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98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Refazer isto do zero é de 9 a 12 meses de um time sênior — e é trabalho que já está pago.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710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estamos hoje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9D4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Concluído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1810512"/>
            <a:ext cx="347472" cy="347472"/>
          </a:xfrm>
          <a:prstGeom prst="ellipse">
            <a:avLst/>
          </a:prstGeom>
          <a:solidFill>
            <a:srgbClr val="9D4300"/>
          </a:solidFill>
          <a:ln w="12700">
            <a:solidFill>
              <a:srgbClr val="9D430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423" y="1900855"/>
            <a:ext cx="166787" cy="16678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70432" y="1810512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completo, em produção na web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40080" y="2386584"/>
            <a:ext cx="347472" cy="347472"/>
          </a:xfrm>
          <a:prstGeom prst="ellipse">
            <a:avLst/>
          </a:prstGeom>
          <a:solidFill>
            <a:srgbClr val="9D4300"/>
          </a:solidFill>
          <a:ln w="12700">
            <a:solidFill>
              <a:srgbClr val="9D430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423" y="2476927"/>
            <a:ext cx="166787" cy="16678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70432" y="2386584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Cobrança integrada nas três plataformas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640080" y="2962656"/>
            <a:ext cx="347472" cy="347472"/>
          </a:xfrm>
          <a:prstGeom prst="ellipse">
            <a:avLst/>
          </a:prstGeom>
          <a:solidFill>
            <a:srgbClr val="9D4300"/>
          </a:solidFill>
          <a:ln w="12700">
            <a:solidFill>
              <a:srgbClr val="9D4300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423" y="3052999"/>
            <a:ext cx="166787" cy="16678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70432" y="2962656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bíblico licenciado em dois idiomas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640080" y="3538728"/>
            <a:ext cx="347472" cy="347472"/>
          </a:xfrm>
          <a:prstGeom prst="ellipse">
            <a:avLst/>
          </a:prstGeom>
          <a:solidFill>
            <a:srgbClr val="9D4300"/>
          </a:solidFill>
          <a:ln w="12700">
            <a:solidFill>
              <a:srgbClr val="9D4300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423" y="3629071"/>
            <a:ext cx="166787" cy="166787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70432" y="353872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e conteúdo em português e inglês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640080" y="4114800"/>
            <a:ext cx="347472" cy="347472"/>
          </a:xfrm>
          <a:prstGeom prst="ellipse">
            <a:avLst/>
          </a:prstGeom>
          <a:solidFill>
            <a:srgbClr val="9D4300"/>
          </a:solidFill>
          <a:ln w="12700">
            <a:solidFill>
              <a:srgbClr val="9D4300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423" y="4205143"/>
            <a:ext cx="166787" cy="166787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70432" y="411480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administrativo com métricas e suporte</a:t>
            </a:r>
            <a:endParaRPr lang="en-US" sz="1350" dirty="0"/>
          </a:p>
        </p:txBody>
      </p:sp>
      <p:sp>
        <p:nvSpPr>
          <p:cNvPr id="19" name="Shape 12"/>
          <p:cNvSpPr/>
          <p:nvPr/>
        </p:nvSpPr>
        <p:spPr>
          <a:xfrm>
            <a:off x="640080" y="4690872"/>
            <a:ext cx="347472" cy="347472"/>
          </a:xfrm>
          <a:prstGeom prst="ellipse">
            <a:avLst/>
          </a:prstGeom>
          <a:solidFill>
            <a:srgbClr val="9D4300"/>
          </a:solidFill>
          <a:ln w="12700">
            <a:solidFill>
              <a:srgbClr val="9D4300"/>
            </a:solidFill>
            <a:prstDash val="solid"/>
          </a:ln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423" y="4781215"/>
            <a:ext cx="166787" cy="166787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170432" y="4690872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conformidade com a LGPD</a:t>
            </a:r>
            <a:endParaRPr lang="en-US" sz="1350" dirty="0"/>
          </a:p>
        </p:txBody>
      </p:sp>
      <p:sp>
        <p:nvSpPr>
          <p:cNvPr id="22" name="Shape 14"/>
          <p:cNvSpPr/>
          <p:nvPr/>
        </p:nvSpPr>
        <p:spPr>
          <a:xfrm>
            <a:off x="6309360" y="1463040"/>
            <a:ext cx="5212080" cy="3566160"/>
          </a:xfrm>
          <a:prstGeom prst="roundRect">
            <a:avLst>
              <a:gd name="adj" fmla="val 2308"/>
            </a:avLst>
          </a:prstGeom>
          <a:solidFill>
            <a:srgbClr val="FDF6EC"/>
          </a:solidFill>
          <a:ln w="9525">
            <a:solidFill>
              <a:srgbClr val="C98A3C"/>
            </a:solidFill>
            <a:prstDash val="solid"/>
          </a:ln>
          <a:effectLst>
            <a:outerShdw sx="100000" sy="100000" kx="0" ky="0" algn="bl" rotWithShape="0" blurRad="127000" dist="25400" dir="5400000">
              <a:srgbClr val="8A6E5C">
                <a:alpha val="16000"/>
              </a:srgbClr>
            </a:outerShdw>
          </a:effectLst>
        </p:spPr>
      </p:sp>
      <p:sp>
        <p:nvSpPr>
          <p:cNvPr id="23" name="Text 15"/>
          <p:cNvSpPr/>
          <p:nvPr/>
        </p:nvSpPr>
        <p:spPr>
          <a:xfrm>
            <a:off x="662940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98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preencher antes de enviar</a:t>
            </a:r>
            <a:endParaRPr lang="en-US" sz="1800" dirty="0"/>
          </a:p>
        </p:txBody>
      </p:sp>
      <p:sp>
        <p:nvSpPr>
          <p:cNvPr id="24" name="Text 16"/>
          <p:cNvSpPr/>
          <p:nvPr/>
        </p:nvSpPr>
        <p:spPr>
          <a:xfrm>
            <a:off x="6629400" y="22402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Usuários cadastrados</a:t>
            </a:r>
            <a:endParaRPr lang="en-US" sz="1350" dirty="0"/>
          </a:p>
        </p:txBody>
      </p:sp>
      <p:sp>
        <p:nvSpPr>
          <p:cNvPr id="25" name="Shape 17"/>
          <p:cNvSpPr/>
          <p:nvPr/>
        </p:nvSpPr>
        <p:spPr>
          <a:xfrm>
            <a:off x="9601200" y="2267712"/>
            <a:ext cx="160020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C98A3C"/>
            </a:solidFill>
            <a:prstDash val="solid"/>
          </a:ln>
        </p:spPr>
      </p:sp>
      <p:sp>
        <p:nvSpPr>
          <p:cNvPr id="26" name="Text 18"/>
          <p:cNvSpPr/>
          <p:nvPr/>
        </p:nvSpPr>
        <p:spPr>
          <a:xfrm>
            <a:off x="9601200" y="2267712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9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preencher</a:t>
            </a:r>
            <a:endParaRPr lang="en-US" sz="1050" dirty="0"/>
          </a:p>
        </p:txBody>
      </p:sp>
      <p:sp>
        <p:nvSpPr>
          <p:cNvPr id="27" name="Text 19"/>
          <p:cNvSpPr/>
          <p:nvPr/>
        </p:nvSpPr>
        <p:spPr>
          <a:xfrm>
            <a:off x="6629400" y="280720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Assinantes ativos</a:t>
            </a:r>
            <a:endParaRPr lang="en-US" sz="1350" dirty="0"/>
          </a:p>
        </p:txBody>
      </p:sp>
      <p:sp>
        <p:nvSpPr>
          <p:cNvPr id="28" name="Shape 20"/>
          <p:cNvSpPr/>
          <p:nvPr/>
        </p:nvSpPr>
        <p:spPr>
          <a:xfrm>
            <a:off x="9601200" y="2834640"/>
            <a:ext cx="160020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C98A3C"/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9601200" y="283464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9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preencher</a:t>
            </a:r>
            <a:endParaRPr lang="en-US" sz="1050" dirty="0"/>
          </a:p>
        </p:txBody>
      </p:sp>
      <p:sp>
        <p:nvSpPr>
          <p:cNvPr id="30" name="Text 22"/>
          <p:cNvSpPr/>
          <p:nvPr/>
        </p:nvSpPr>
        <p:spPr>
          <a:xfrm>
            <a:off x="6629400" y="337413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Retenção em 30 dias</a:t>
            </a:r>
            <a:endParaRPr lang="en-US" sz="1350" dirty="0"/>
          </a:p>
        </p:txBody>
      </p:sp>
      <p:sp>
        <p:nvSpPr>
          <p:cNvPr id="31" name="Shape 23"/>
          <p:cNvSpPr/>
          <p:nvPr/>
        </p:nvSpPr>
        <p:spPr>
          <a:xfrm>
            <a:off x="9601200" y="3401568"/>
            <a:ext cx="160020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C98A3C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9601200" y="3401568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9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preencher</a:t>
            </a:r>
            <a:endParaRPr lang="en-US" sz="1050" dirty="0"/>
          </a:p>
        </p:txBody>
      </p:sp>
      <p:sp>
        <p:nvSpPr>
          <p:cNvPr id="33" name="Text 25"/>
          <p:cNvSpPr/>
          <p:nvPr/>
        </p:nvSpPr>
        <p:spPr>
          <a:xfrm>
            <a:off x="6629400" y="394106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espera / beta</a:t>
            </a:r>
            <a:endParaRPr lang="en-US" sz="1350" dirty="0"/>
          </a:p>
        </p:txBody>
      </p:sp>
      <p:sp>
        <p:nvSpPr>
          <p:cNvPr id="34" name="Shape 26"/>
          <p:cNvSpPr/>
          <p:nvPr/>
        </p:nvSpPr>
        <p:spPr>
          <a:xfrm>
            <a:off x="9601200" y="3968496"/>
            <a:ext cx="160020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C98A3C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9601200" y="3968496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98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preencher</a:t>
            </a:r>
            <a:endParaRPr lang="en-US" sz="1050" dirty="0"/>
          </a:p>
        </p:txBody>
      </p:sp>
      <p:sp>
        <p:nvSpPr>
          <p:cNvPr id="36" name="Text 28"/>
          <p:cNvSpPr/>
          <p:nvPr/>
        </p:nvSpPr>
        <p:spPr>
          <a:xfrm>
            <a:off x="6629400" y="4443984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Estágio: pré-lançamento nas lojas. O deck trata o app como produto pronto sem tração publicada — números entram aqui quando existirem.</a:t>
            </a:r>
            <a:endParaRPr lang="en-US" sz="1100" dirty="0"/>
          </a:p>
        </p:txBody>
      </p:sp>
      <p:sp>
        <p:nvSpPr>
          <p:cNvPr id="37" name="Shape 29"/>
          <p:cNvSpPr/>
          <p:nvPr/>
        </p:nvSpPr>
        <p:spPr>
          <a:xfrm>
            <a:off x="640080" y="5257800"/>
            <a:ext cx="10881360" cy="914400"/>
          </a:xfrm>
          <a:prstGeom prst="roundRect">
            <a:avLst>
              <a:gd name="adj" fmla="val 9000"/>
            </a:avLst>
          </a:prstGeom>
          <a:solidFill>
            <a:srgbClr val="F5E9DE"/>
          </a:solidFill>
          <a:ln w="9525">
            <a:solidFill>
              <a:srgbClr val="E0CDBB"/>
            </a:solidFill>
            <a:prstDash val="solid"/>
          </a:ln>
          <a:effectLst>
            <a:outerShdw sx="100000" sy="100000" kx="0" ky="0" algn="bl" rotWithShape="0" blurRad="127000" dist="25400" dir="5400000">
              <a:srgbClr val="8A6E5C">
                <a:alpha val="16000"/>
              </a:srgbClr>
            </a:outerShdw>
          </a:effectLst>
        </p:spPr>
      </p:sp>
      <p:sp>
        <p:nvSpPr>
          <p:cNvPr id="38" name="Text 30"/>
          <p:cNvSpPr/>
          <p:nvPr/>
        </p:nvSpPr>
        <p:spPr>
          <a:xfrm>
            <a:off x="1005840" y="5257800"/>
            <a:ext cx="1014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Honestidade como argumento: o app ainda não tem histórico de retenção. Toda projeção deste deck é premissa declarada, não resultado medido.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710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mercado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3474720" cy="1463040"/>
          </a:xfrm>
          <a:prstGeom prst="roundRect">
            <a:avLst>
              <a:gd name="adj" fmla="val 5625"/>
            </a:avLst>
          </a:prstGeom>
          <a:solidFill>
            <a:srgbClr val="FAF3EC"/>
          </a:solidFill>
          <a:ln w="9525">
            <a:solidFill>
              <a:srgbClr val="E4D6C8"/>
            </a:solidFill>
            <a:prstDash val="solid"/>
          </a:ln>
          <a:effectLst>
            <a:outerShdw sx="100000" sy="100000" kx="0" ky="0" algn="bl" rotWithShape="0" blurRad="127000" dist="25400" dir="5400000">
              <a:srgbClr val="8A6E5C">
                <a:alpha val="16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96112" y="153619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9D4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US$ 2,8 bi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96112" y="21031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global de apps de bem-estar espiritual em 2026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343400" y="1417320"/>
            <a:ext cx="3474720" cy="1463040"/>
          </a:xfrm>
          <a:prstGeom prst="roundRect">
            <a:avLst>
              <a:gd name="adj" fmla="val 5625"/>
            </a:avLst>
          </a:prstGeom>
          <a:solidFill>
            <a:srgbClr val="FAF3EC"/>
          </a:solidFill>
          <a:ln w="9525">
            <a:solidFill>
              <a:srgbClr val="E4D6C8"/>
            </a:solidFill>
            <a:prstDash val="solid"/>
          </a:ln>
          <a:effectLst>
            <a:outerShdw sx="100000" sy="100000" kx="0" ky="0" algn="bl" rotWithShape="0" blurRad="127000" dist="25400" dir="5400000">
              <a:srgbClr val="8A6E5C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99432" y="153619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9D4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14,6% a.a.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99432" y="21031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projetado até 2033, chegando a US$ 7,3 bi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046720" y="1417320"/>
            <a:ext cx="3474720" cy="1463040"/>
          </a:xfrm>
          <a:prstGeom prst="roundRect">
            <a:avLst>
              <a:gd name="adj" fmla="val 5625"/>
            </a:avLst>
          </a:prstGeom>
          <a:solidFill>
            <a:srgbClr val="FAF3EC"/>
          </a:solidFill>
          <a:ln w="9525">
            <a:solidFill>
              <a:srgbClr val="E4D6C8"/>
            </a:solidFill>
            <a:prstDash val="solid"/>
          </a:ln>
          <a:effectLst>
            <a:outerShdw sx="100000" sy="100000" kx="0" ky="0" algn="bl" rotWithShape="0" blurRad="127000" dist="25400" dir="5400000">
              <a:srgbClr val="8A6E5C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302752" y="153619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9D4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147,6 mi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8302752" y="21031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cristãos no Brasil — mercado que os líderes globais não atendem em português</a:t>
            </a:r>
            <a:endParaRPr lang="en-US" sz="12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640080" y="3108960"/>
          <a:ext cx="603504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Shape 10"/>
          <p:cNvSpPr/>
          <p:nvPr/>
        </p:nvSpPr>
        <p:spPr>
          <a:xfrm>
            <a:off x="6995160" y="3108960"/>
            <a:ext cx="4526280" cy="2743200"/>
          </a:xfrm>
          <a:prstGeom prst="roundRect">
            <a:avLst>
              <a:gd name="adj" fmla="val 3000"/>
            </a:avLst>
          </a:prstGeom>
          <a:solidFill>
            <a:srgbClr val="F5E9DE"/>
          </a:solidFill>
          <a:ln w="9525">
            <a:solidFill>
              <a:srgbClr val="E0CDBB"/>
            </a:solidFill>
            <a:prstDash val="solid"/>
          </a:ln>
          <a:effectLst>
            <a:outerShdw sx="100000" sy="100000" kx="0" ky="0" algn="bl" rotWithShape="0" blurRad="127000" dist="25400" dir="5400000">
              <a:srgbClr val="8A6E5C">
                <a:alpha val="16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315200" y="331012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9D4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isso significa aqui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315200" y="3730752"/>
            <a:ext cx="3931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preciso liderar o mercado. Com 0,003% dos cristãos brasileiros assinando, o app faz R$ 800 mil de receita anual.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ticket em real (R$ 16,90/mês) é metade do preço dos apps americanos convertidos — e ainda assim é margem alta de software.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código já fala inglês: expandir para fora é decisão de marketing, não de engenharia.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40080" y="62910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Grand View Research / Business Research Company (apps de bem-estar espiritual, 2024–2033); IBGE, Censo 2022.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710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já está no campo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969264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grandes resolvem acesso e devocional. O percurso completo está vago.</a:t>
            </a:r>
            <a:endParaRPr lang="en-US" sz="14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965960"/>
                <a:gridCol w="1965960"/>
                <a:gridCol w="1965960"/>
                <a:gridCol w="269748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A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E9D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YouVersion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A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E9D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Hallow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A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E9D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Glorify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A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E9D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Jesus' Corner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430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D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Foco do produto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2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Versículo do dia e planos devocionais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2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Oração e meditação católica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2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Devocional em áudio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C27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Ler a Bíblia inteira, com rotina diária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D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D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Mercado principal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2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Global, em inglês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2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Estados Unidos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2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EUA e Reino Unido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C27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Brasil, em português (e inglês pronto)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D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D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Plano até o fim da Bíblia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2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Genérico, sem ritmo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2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2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C27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 — 8 blocos e 3 ritmos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D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D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Constância medida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2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Sequência simples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2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Sequência simples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2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Sequência simples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C27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Anel diário, metas, XP e desafios em grupo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D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D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IA sobre o trecho lido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2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2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Parcial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2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Parcial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C27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 — estudo, busca e conversa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D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D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Preço de lista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2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Grátis (doações)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2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US$ 70/ano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D2F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US$ 60/ano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7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C27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R$ 169,90/ano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7D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2910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Preços de lista aproximados, consultados em agosto de 2026; podem variar por região e promoção.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10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5E9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agora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6002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2A1712"/>
          </a:solidFill>
          <a:ln w="9525">
            <a:solidFill>
              <a:srgbClr val="4A2E2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" y="2057400"/>
            <a:ext cx="457200" cy="457200"/>
          </a:xfrm>
          <a:prstGeom prst="ellipse">
            <a:avLst/>
          </a:prstGeom>
          <a:solidFill>
            <a:srgbClr val="C98A3C"/>
          </a:solidFill>
          <a:ln w="12700">
            <a:solidFill>
              <a:srgbClr val="C98A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10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645920" y="1764792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5E9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mercado já foi provado — por outro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45920" y="2167128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0A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Hallow levantou US$ 157 milhões e foi o primeiro app religioso a entrar no top 10 da App Store americana. A tese não precisa mais ser defendida: precisa ser ocupada em português.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172968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2A1712"/>
          </a:solidFill>
          <a:ln w="9525">
            <a:solidFill>
              <a:srgbClr val="4A2E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3630168"/>
            <a:ext cx="457200" cy="457200"/>
          </a:xfrm>
          <a:prstGeom prst="ellipse">
            <a:avLst/>
          </a:prstGeom>
          <a:solidFill>
            <a:srgbClr val="C98A3C"/>
          </a:solidFill>
          <a:ln w="12700">
            <a:solidFill>
              <a:srgbClr val="C98A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3630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10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645920" y="3337560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5E9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IA ficou barata na hora certa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45920" y="3739896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0A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era inviável há dois anos hoje custa centavos por conversa. Estudo por tema, busca semântica nas notas e conversa sobre o trecho lido já rodam no app — não são promessa de roadmap.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745736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2A1712"/>
          </a:solidFill>
          <a:ln w="9525">
            <a:solidFill>
              <a:srgbClr val="4A2E2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" y="5202936"/>
            <a:ext cx="457200" cy="457200"/>
          </a:xfrm>
          <a:prstGeom prst="ellipse">
            <a:avLst/>
          </a:prstGeom>
          <a:solidFill>
            <a:srgbClr val="C98A3C"/>
          </a:solidFill>
          <a:ln w="12700">
            <a:solidFill>
              <a:srgbClr val="C98A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5202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10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645920" y="4910328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5E9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Brasil está descoberto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45920" y="5312664"/>
            <a:ext cx="950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0A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maior público cristão fora do inglês paga assinatura em real, instala PWA e compra na Play Store. Os líderes globais não falam com ele, e nenhum concorrente local tem produto equivalente.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62910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anúncios públicos de captação da Hallow (Série C de US$ 50 mi, 2023) e perfis públicos de investimento consultados em agosto de 2026.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710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o app ganha dinheiro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969264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Assinatura pura, já cobrando nos três canais — nada disso precisa ser construído.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246120" cy="2148840"/>
          </a:xfrm>
          <a:prstGeom prst="roundRect">
            <a:avLst>
              <a:gd name="adj" fmla="val 3830"/>
            </a:avLst>
          </a:prstGeom>
          <a:solidFill>
            <a:srgbClr val="FAF3EC"/>
          </a:solidFill>
          <a:ln w="9525">
            <a:solidFill>
              <a:srgbClr val="E4D6C8"/>
            </a:solidFill>
            <a:prstDash val="solid"/>
          </a:ln>
          <a:effectLst>
            <a:outerShdw sx="100000" sy="100000" kx="0" ky="0" algn="bl" rotWithShape="0" blurRad="127000" dist="25400" dir="5400000">
              <a:srgbClr val="8A6E5C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2880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7A6A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Mensal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17627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9D4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R$ 16,90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914400" y="285292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US$ 6,90 fora do Brasil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318211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completo, sem anúncios.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0" y="1645920"/>
            <a:ext cx="3246120" cy="2148840"/>
          </a:xfrm>
          <a:prstGeom prst="roundRect">
            <a:avLst>
              <a:gd name="adj" fmla="val 3830"/>
            </a:avLst>
          </a:prstGeom>
          <a:solidFill>
            <a:srgbClr val="F5E9DE"/>
          </a:solidFill>
          <a:ln w="9525">
            <a:solidFill>
              <a:srgbClr val="9D4300"/>
            </a:solidFill>
            <a:prstDash val="solid"/>
          </a:ln>
          <a:effectLst>
            <a:outerShdw sx="100000" sy="100000" kx="0" ky="0" algn="bl" rotWithShape="0" blurRad="127000" dist="25400" dir="5400000">
              <a:srgbClr val="8A6E5C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389120" y="182880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D4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Anual · mais rentável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389120" y="217627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9D4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R$ 169,90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389120" y="285292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US$ 69,90 fora do Brasil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389120" y="318211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Doze meses pelo preço de dez — e caixa adiantado.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589520" y="1645920"/>
            <a:ext cx="3931920" cy="2148840"/>
          </a:xfrm>
          <a:prstGeom prst="roundRect">
            <a:avLst>
              <a:gd name="adj" fmla="val 3830"/>
            </a:avLst>
          </a:prstGeom>
          <a:solidFill>
            <a:srgbClr val="FAF3EC"/>
          </a:solidFill>
          <a:ln w="9525">
            <a:solidFill>
              <a:srgbClr val="E4D6C8"/>
            </a:solidFill>
            <a:prstDash val="solid"/>
          </a:ln>
          <a:effectLst>
            <a:outerShdw sx="100000" sy="100000" kx="0" ky="0" algn="bl" rotWithShape="0" blurRad="127000" dist="25400" dir="5400000">
              <a:srgbClr val="8A6E5C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863840" y="182880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7A6A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 degrau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863840" y="2176272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98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Premium + IA · R$ 29,90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863840" y="2779776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superior com o agente de IA sobre o texto lido, já especificado em documento técnico e com o custo por conversa mapeado.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4069080"/>
            <a:ext cx="3474720" cy="1371600"/>
          </a:xfrm>
          <a:prstGeom prst="roundRect">
            <a:avLst>
              <a:gd name="adj" fmla="val 6000"/>
            </a:avLst>
          </a:prstGeom>
          <a:solidFill>
            <a:srgbClr val="FAF3EC"/>
          </a:solidFill>
          <a:ln w="9525">
            <a:solidFill>
              <a:srgbClr val="E4D6C8"/>
            </a:solidFill>
            <a:prstDash val="solid"/>
          </a:ln>
          <a:effectLst>
            <a:outerShdw sx="100000" sy="100000" kx="0" ky="0" algn="bl" rotWithShape="0" blurRad="127000" dist="25400" dir="5400000">
              <a:srgbClr val="8A6E5C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96112" y="4233672"/>
            <a:ext cx="384048" cy="384048"/>
          </a:xfrm>
          <a:prstGeom prst="ellipse">
            <a:avLst/>
          </a:prstGeom>
          <a:solidFill>
            <a:srgbClr val="9D4300"/>
          </a:solidFill>
          <a:ln w="12700">
            <a:solidFill>
              <a:srgbClr val="9D4300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964" y="4333524"/>
            <a:ext cx="184343" cy="184343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389888" y="42336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0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Stripe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896112" y="4700016"/>
            <a:ext cx="2962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assinatura na web, com portal de gestão e webhooks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4343400" y="4069080"/>
            <a:ext cx="3474720" cy="1371600"/>
          </a:xfrm>
          <a:prstGeom prst="roundRect">
            <a:avLst>
              <a:gd name="adj" fmla="val 6000"/>
            </a:avLst>
          </a:prstGeom>
          <a:solidFill>
            <a:srgbClr val="FAF3EC"/>
          </a:solidFill>
          <a:ln w="9525">
            <a:solidFill>
              <a:srgbClr val="E4D6C8"/>
            </a:solidFill>
            <a:prstDash val="solid"/>
          </a:ln>
          <a:effectLst>
            <a:outerShdw sx="100000" sy="100000" kx="0" ky="0" algn="bl" rotWithShape="0" blurRad="127000" dist="25400" dir="5400000">
              <a:srgbClr val="8A6E5C">
                <a:alpha val="16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599432" y="4233672"/>
            <a:ext cx="384048" cy="384048"/>
          </a:xfrm>
          <a:prstGeom prst="ellipse">
            <a:avLst/>
          </a:prstGeom>
          <a:solidFill>
            <a:srgbClr val="9D4300"/>
          </a:solidFill>
          <a:ln w="12700">
            <a:solidFill>
              <a:srgbClr val="9D4300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9284" y="4333524"/>
            <a:ext cx="184343" cy="184343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093208" y="42336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0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Play</a:t>
            </a:r>
            <a:endParaRPr lang="en-US" sz="1500" dirty="0"/>
          </a:p>
        </p:txBody>
      </p:sp>
      <p:sp>
        <p:nvSpPr>
          <p:cNvPr id="27" name="Text 23"/>
          <p:cNvSpPr/>
          <p:nvPr/>
        </p:nvSpPr>
        <p:spPr>
          <a:xfrm>
            <a:off x="4599432" y="4700016"/>
            <a:ext cx="2962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nativo, verificação de compra e notificações em tempo real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8046720" y="4069080"/>
            <a:ext cx="3474720" cy="1371600"/>
          </a:xfrm>
          <a:prstGeom prst="roundRect">
            <a:avLst>
              <a:gd name="adj" fmla="val 6000"/>
            </a:avLst>
          </a:prstGeom>
          <a:solidFill>
            <a:srgbClr val="FAF3EC"/>
          </a:solidFill>
          <a:ln w="9525">
            <a:solidFill>
              <a:srgbClr val="E4D6C8"/>
            </a:solidFill>
            <a:prstDash val="solid"/>
          </a:ln>
          <a:effectLst>
            <a:outerShdw sx="100000" sy="100000" kx="0" ky="0" algn="bl" rotWithShape="0" blurRad="127000" dist="25400" dir="5400000">
              <a:srgbClr val="8A6E5C">
                <a:alpha val="16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8302752" y="4233672"/>
            <a:ext cx="384048" cy="384048"/>
          </a:xfrm>
          <a:prstGeom prst="ellipse">
            <a:avLst/>
          </a:prstGeom>
          <a:solidFill>
            <a:srgbClr val="9D4300"/>
          </a:solidFill>
          <a:ln w="12700">
            <a:solidFill>
              <a:srgbClr val="9D4300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2604" y="4333524"/>
            <a:ext cx="184343" cy="184343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8796528" y="42336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10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 Store</a:t>
            </a:r>
            <a:endParaRPr lang="en-US" sz="1500" dirty="0"/>
          </a:p>
        </p:txBody>
      </p:sp>
      <p:sp>
        <p:nvSpPr>
          <p:cNvPr id="32" name="Text 27"/>
          <p:cNvSpPr/>
          <p:nvPr/>
        </p:nvSpPr>
        <p:spPr>
          <a:xfrm>
            <a:off x="8302752" y="4700016"/>
            <a:ext cx="2962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StoreKit com validação de recibo e notificações do servidor Apple</a:t>
            </a:r>
            <a:endParaRPr lang="en-US" sz="1150" dirty="0"/>
          </a:p>
        </p:txBody>
      </p:sp>
      <p:sp>
        <p:nvSpPr>
          <p:cNvPr id="33" name="Text 28"/>
          <p:cNvSpPr/>
          <p:nvPr/>
        </p:nvSpPr>
        <p:spPr>
          <a:xfrm>
            <a:off x="640080" y="5623560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trilho já integrado é um canal de venda que não precisa esperar desenvolvimento para faturar.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710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cenários, uma conta simples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969264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recorrente mensal, em R$ mil, ao fim do mês 12 e do mês 24.</a:t>
            </a:r>
            <a:endParaRPr lang="en-US" sz="14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00200"/>
          <a:ext cx="667512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35240" y="1600200"/>
            <a:ext cx="3886200" cy="3383280"/>
          </a:xfrm>
          <a:prstGeom prst="roundRect">
            <a:avLst>
              <a:gd name="adj" fmla="val 2432"/>
            </a:avLst>
          </a:prstGeom>
          <a:solidFill>
            <a:srgbClr val="F5E9DE"/>
          </a:solidFill>
          <a:ln w="9525">
            <a:solidFill>
              <a:srgbClr val="E0CDBB"/>
            </a:solidFill>
            <a:prstDash val="solid"/>
          </a:ln>
          <a:effectLst>
            <a:outerShdw sx="100000" sy="100000" kx="0" ky="0" algn="bl" rotWithShape="0" blurRad="127000" dist="25400" dir="5400000">
              <a:srgbClr val="8A6E5C">
                <a:alpha val="1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909560" y="178308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9D4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Premissas declaradas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909560" y="2212848"/>
            <a:ext cx="33832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líquida por assinante: R$ 13,50/mês, já descontada a taxa de loja e o desconto do plano anual.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Cancelamento: 6% ao mês, típico de assinatura de hábito.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 Base: 5.000 assinantes no mês 12 e 15.000 no mês 24.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cenário considera o tier de IA nem venda para igrejas.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5166360"/>
            <a:ext cx="10881360" cy="896112"/>
          </a:xfrm>
          <a:prstGeom prst="roundRect">
            <a:avLst>
              <a:gd name="adj" fmla="val 9184"/>
            </a:avLst>
          </a:prstGeom>
          <a:solidFill>
            <a:srgbClr val="FDF6EC"/>
          </a:solidFill>
          <a:ln w="9525">
            <a:solidFill>
              <a:srgbClr val="C98A3C"/>
            </a:solidFill>
            <a:prstDash val="solid"/>
          </a:ln>
          <a:effectLst>
            <a:outerShdw sx="100000" sy="100000" kx="0" ky="0" algn="bl" rotWithShape="0" blurRad="127000" dist="25400" dir="5400000">
              <a:srgbClr val="8A6E5C">
                <a:alpha val="16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005840" y="5166360"/>
            <a:ext cx="10149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C27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cenário Base pede 5.000 assinantes: 0,003% dos cristãos brasileiros. O gargalo deste negócio nunca foi o tamanho do mercado — é a distribuição.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710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economia de um assinante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969264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 conta fecha mesmo com aquisição paga.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2542032" cy="1828800"/>
          </a:xfrm>
          <a:prstGeom prst="roundRect">
            <a:avLst>
              <a:gd name="adj" fmla="val 4500"/>
            </a:avLst>
          </a:prstGeom>
          <a:solidFill>
            <a:srgbClr val="FAF3EC"/>
          </a:solidFill>
          <a:ln w="9525">
            <a:solidFill>
              <a:srgbClr val="E4D6C8"/>
            </a:solidFill>
            <a:prstDash val="solid"/>
          </a:ln>
          <a:effectLst>
            <a:outerShdw sx="100000" sy="100000" kx="0" ky="0" algn="bl" rotWithShape="0" blurRad="127000" dist="25400" dir="5400000">
              <a:srgbClr val="8A6E5C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77824" y="1737360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9D4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R$ 13,50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77824" y="234086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10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receita líquida por assinante/mês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77824" y="2871216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da taxa de loja e do mix anual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10712" y="1572768"/>
            <a:ext cx="2542032" cy="1828800"/>
          </a:xfrm>
          <a:prstGeom prst="roundRect">
            <a:avLst>
              <a:gd name="adj" fmla="val 4500"/>
            </a:avLst>
          </a:prstGeom>
          <a:solidFill>
            <a:srgbClr val="FAF3EC"/>
          </a:solidFill>
          <a:ln w="9525">
            <a:solidFill>
              <a:srgbClr val="E4D6C8"/>
            </a:solidFill>
            <a:prstDash val="solid"/>
          </a:ln>
          <a:effectLst>
            <a:outerShdw sx="100000" sy="100000" kx="0" ky="0" algn="bl" rotWithShape="0" blurRad="127000" dist="25400" dir="5400000">
              <a:srgbClr val="8A6E5C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48456" y="1737360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9D4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17 meses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3648456" y="234086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10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 médio de permanência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48456" y="2871216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6% de cancelamento mensal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81344" y="1572768"/>
            <a:ext cx="2542032" cy="1828800"/>
          </a:xfrm>
          <a:prstGeom prst="roundRect">
            <a:avLst>
              <a:gd name="adj" fmla="val 4500"/>
            </a:avLst>
          </a:prstGeom>
          <a:solidFill>
            <a:srgbClr val="FAF3EC"/>
          </a:solidFill>
          <a:ln w="9525">
            <a:solidFill>
              <a:srgbClr val="E4D6C8"/>
            </a:solidFill>
            <a:prstDash val="solid"/>
          </a:ln>
          <a:effectLst>
            <a:outerShdw sx="100000" sy="100000" kx="0" ky="0" algn="bl" rotWithShape="0" blurRad="127000" dist="25400" dir="5400000">
              <a:srgbClr val="8A6E5C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19088" y="1737360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9D4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R$ 225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6419088" y="234086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10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 de um assinante (LTV)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19088" y="2871216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acumulada por pessoa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951976" y="1572768"/>
            <a:ext cx="2542032" cy="1828800"/>
          </a:xfrm>
          <a:prstGeom prst="roundRect">
            <a:avLst>
              <a:gd name="adj" fmla="val 4500"/>
            </a:avLst>
          </a:prstGeom>
          <a:solidFill>
            <a:srgbClr val="FAF3EC"/>
          </a:solidFill>
          <a:ln w="9525">
            <a:solidFill>
              <a:srgbClr val="E4D6C8"/>
            </a:solidFill>
            <a:prstDash val="solid"/>
          </a:ln>
          <a:effectLst>
            <a:outerShdw sx="100000" sy="100000" kx="0" ky="0" algn="bl" rotWithShape="0" blurRad="127000" dist="25400" dir="5400000">
              <a:srgbClr val="8A6E5C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89720" y="1737360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9D4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R$ 50 a 70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9189720" y="234086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10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custo-alvo de aquisição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89720" y="2871216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em 4 a 5 meses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3639312"/>
            <a:ext cx="5349240" cy="2148840"/>
          </a:xfrm>
          <a:prstGeom prst="roundRect">
            <a:avLst>
              <a:gd name="adj" fmla="val 3830"/>
            </a:avLst>
          </a:prstGeom>
          <a:solidFill>
            <a:srgbClr val="F5E9DE"/>
          </a:solidFill>
          <a:ln w="9525">
            <a:solidFill>
              <a:srgbClr val="E0CDBB"/>
            </a:solidFill>
            <a:prstDash val="solid"/>
          </a:ln>
          <a:effectLst>
            <a:outerShdw sx="100000" sy="100000" kx="0" ky="0" algn="bl" rotWithShape="0" blurRad="127000" dist="25400" dir="5400000">
              <a:srgbClr val="8A6E5C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32688" y="38404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9D4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Relação LTV / CAC: 3 a 4,5 vezes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32688" y="4279392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Acima de 3 é a faixa em que faz sentido acelerar aquisição paga. Abaixo disso, o crescimento é feito por indicação e comunidade — canais que o app já tem construídos.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172200" y="3639312"/>
            <a:ext cx="5349240" cy="2148840"/>
          </a:xfrm>
          <a:prstGeom prst="roundRect">
            <a:avLst>
              <a:gd name="adj" fmla="val 3830"/>
            </a:avLst>
          </a:prstGeom>
          <a:solidFill>
            <a:srgbClr val="FAF3EC"/>
          </a:solidFill>
          <a:ln w="9525">
            <a:solidFill>
              <a:srgbClr val="E4D6C8"/>
            </a:solidFill>
            <a:prstDash val="solid"/>
          </a:ln>
          <a:effectLst>
            <a:outerShdw sx="100000" sy="100000" kx="0" ky="0" algn="bl" rotWithShape="0" blurRad="127000" dist="25400" dir="5400000">
              <a:srgbClr val="8A6E5C">
                <a:alpha val="1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64808" y="384048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10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três alavancas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464808" y="425196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Empurrar o plano anual reduz cancelamento e adianta caixa.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tier Premium + IA (R$ 29,90) eleva a receita por assinante sem novo custo de aquisição.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e convites derrubam o custo de aquisição: quem entra por indicação de um líder tende a ficar.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0080" y="62910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Premissas de modelagem — o app ainda não possui histórico próprio de cancelamento.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710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crescer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969264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canais — três deles já implementados dentro do app.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AF3EC"/>
          </a:solidFill>
          <a:ln w="9525">
            <a:solidFill>
              <a:srgbClr val="E4D6C8"/>
            </a:solidFill>
            <a:prstDash val="solid"/>
          </a:ln>
          <a:effectLst>
            <a:outerShdw sx="100000" sy="100000" kx="0" ky="0" algn="bl" rotWithShape="0" blurRad="127000" dist="25400" dir="5400000">
              <a:srgbClr val="8A6E5C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1883664"/>
            <a:ext cx="438912" cy="438912"/>
          </a:xfrm>
          <a:prstGeom prst="ellipse">
            <a:avLst/>
          </a:prstGeom>
          <a:solidFill>
            <a:srgbClr val="9D4300"/>
          </a:solidFill>
          <a:ln w="12700">
            <a:solidFill>
              <a:srgbClr val="9D430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805" y="1997781"/>
            <a:ext cx="210678" cy="21067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6537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0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Convite e indicação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32688" y="2450592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app já gera códigos de convite com desconto e acesso liberado. Cada assinante satisfeito é um canal de aquisição com custo próximo de zero.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72200" y="1627632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AF3EC"/>
          </a:solidFill>
          <a:ln w="9525">
            <a:solidFill>
              <a:srgbClr val="E4D6C8"/>
            </a:solidFill>
            <a:prstDash val="solid"/>
          </a:ln>
          <a:effectLst>
            <a:outerShdw sx="100000" sy="100000" kx="0" ky="0" algn="bl" rotWithShape="0" blurRad="127000" dist="25400" dir="5400000">
              <a:srgbClr val="8A6E5C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64808" y="1883664"/>
            <a:ext cx="438912" cy="438912"/>
          </a:xfrm>
          <a:prstGeom prst="ellipse">
            <a:avLst/>
          </a:prstGeom>
          <a:solidFill>
            <a:srgbClr val="9D4300"/>
          </a:solidFill>
          <a:ln w="12700">
            <a:solidFill>
              <a:srgbClr val="9D430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8925" y="1997781"/>
            <a:ext cx="210678" cy="21067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40880" y="186537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0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Grupos e desafios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464808" y="2450592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em grupo, desafios e comentários já existem. Uma célula ou grupo de igreja entra inteira — a unidade de aquisição não é a pessoa, é o grupo.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3822192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AF3EC"/>
          </a:solidFill>
          <a:ln w="9525">
            <a:solidFill>
              <a:srgbClr val="E4D6C8"/>
            </a:solidFill>
            <a:prstDash val="solid"/>
          </a:ln>
          <a:effectLst>
            <a:outerShdw sx="100000" sy="100000" kx="0" ky="0" algn="bl" rotWithShape="0" blurRad="127000" dist="25400" dir="5400000">
              <a:srgbClr val="8A6E5C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32688" y="4078224"/>
            <a:ext cx="438912" cy="438912"/>
          </a:xfrm>
          <a:prstGeom prst="ellipse">
            <a:avLst/>
          </a:prstGeom>
          <a:solidFill>
            <a:srgbClr val="9D4300"/>
          </a:solidFill>
          <a:ln w="12700">
            <a:solidFill>
              <a:srgbClr val="9D430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805" y="4192341"/>
            <a:ext cx="210678" cy="21067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405993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0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Líderes e igrejas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932688" y="4645152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Pastores e líderes de estudo distribuem o plano para a congregação. Um único líder engajado vale centenas de instalações. Formato de licença coletiva no roadmap.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172200" y="3822192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AF3EC"/>
          </a:solidFill>
          <a:ln w="9525">
            <a:solidFill>
              <a:srgbClr val="E4D6C8"/>
            </a:solidFill>
            <a:prstDash val="solid"/>
          </a:ln>
          <a:effectLst>
            <a:outerShdw sx="100000" sy="100000" kx="0" ky="0" algn="bl" rotWithShape="0" blurRad="127000" dist="25400" dir="5400000">
              <a:srgbClr val="8A6E5C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64808" y="4078224"/>
            <a:ext cx="438912" cy="438912"/>
          </a:xfrm>
          <a:prstGeom prst="ellipse">
            <a:avLst/>
          </a:prstGeom>
          <a:solidFill>
            <a:srgbClr val="9D4300"/>
          </a:solidFill>
          <a:ln w="12700">
            <a:solidFill>
              <a:srgbClr val="9D4300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8925" y="4192341"/>
            <a:ext cx="210678" cy="21067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40880" y="405993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0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Busca nas lojas e criadores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6464808" y="4645152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 em português para "plano de leitura bíblica" e parceria com criadores cristãos brasileiros — mídia paga só depois que a retenção estiver medida.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640080" y="5989320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vantagem escondida: um app de leitura em grupo cresce por convite de líder, não por leilão de anúncio.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710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próximos 12 meses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969264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aporte compra, trimestre a trimestre.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2542032" cy="3108960"/>
          </a:xfrm>
          <a:prstGeom prst="roundRect">
            <a:avLst>
              <a:gd name="adj" fmla="val 3237"/>
            </a:avLst>
          </a:prstGeom>
          <a:solidFill>
            <a:srgbClr val="FAF3EC"/>
          </a:solidFill>
          <a:ln w="9525">
            <a:solidFill>
              <a:srgbClr val="E4D6C8"/>
            </a:solidFill>
            <a:prstDash val="solid"/>
          </a:ln>
          <a:effectLst>
            <a:outerShdw sx="100000" sy="100000" kx="0" ky="0" algn="bl" rotWithShape="0" blurRad="127000" dist="25400" dir="5400000">
              <a:srgbClr val="8A6E5C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847088"/>
            <a:ext cx="658368" cy="384048"/>
          </a:xfrm>
          <a:prstGeom prst="roundRect">
            <a:avLst>
              <a:gd name="adj" fmla="val 14286"/>
            </a:avLst>
          </a:prstGeom>
          <a:solidFill>
            <a:srgbClr val="9D4300"/>
          </a:solidFill>
          <a:ln w="12700">
            <a:solidFill>
              <a:srgbClr val="9D43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847088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E9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2359152"/>
            <a:ext cx="2048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10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Lançar e medir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96112" y="2816352"/>
            <a:ext cx="2048256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Publicação na Play Store e na App Store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de IA liberado por lista de convidados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Primeira medição real de retenção em 30 dias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10712" y="1645920"/>
            <a:ext cx="2542032" cy="3108960"/>
          </a:xfrm>
          <a:prstGeom prst="roundRect">
            <a:avLst>
              <a:gd name="adj" fmla="val 3237"/>
            </a:avLst>
          </a:prstGeom>
          <a:solidFill>
            <a:srgbClr val="FAF3EC"/>
          </a:solidFill>
          <a:ln w="9525">
            <a:solidFill>
              <a:srgbClr val="E4D6C8"/>
            </a:solidFill>
            <a:prstDash val="solid"/>
          </a:ln>
          <a:effectLst>
            <a:outerShdw sx="100000" sy="100000" kx="0" ky="0" algn="bl" rotWithShape="0" blurRad="127000" dist="25400" dir="5400000">
              <a:srgbClr val="8A6E5C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66744" y="1847088"/>
            <a:ext cx="658368" cy="384048"/>
          </a:xfrm>
          <a:prstGeom prst="roundRect">
            <a:avLst>
              <a:gd name="adj" fmla="val 14286"/>
            </a:avLst>
          </a:prstGeom>
          <a:solidFill>
            <a:srgbClr val="9D4300"/>
          </a:solidFill>
          <a:ln w="12700">
            <a:solidFill>
              <a:srgbClr val="9D43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66744" y="1847088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E9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66744" y="2359152"/>
            <a:ext cx="2048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10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Elevar a receita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66744" y="2816352"/>
            <a:ext cx="2048256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Premium + IA a R$ 29,90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Otimização de conversão do plano anual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 do ASO e das parcerias com criadores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81344" y="1645920"/>
            <a:ext cx="2542032" cy="3108960"/>
          </a:xfrm>
          <a:prstGeom prst="roundRect">
            <a:avLst>
              <a:gd name="adj" fmla="val 3237"/>
            </a:avLst>
          </a:prstGeom>
          <a:solidFill>
            <a:srgbClr val="FAF3EC"/>
          </a:solidFill>
          <a:ln w="9525">
            <a:solidFill>
              <a:srgbClr val="E4D6C8"/>
            </a:solidFill>
            <a:prstDash val="solid"/>
          </a:ln>
          <a:effectLst>
            <a:outerShdw sx="100000" sy="100000" kx="0" ky="0" algn="bl" rotWithShape="0" blurRad="127000" dist="25400" dir="5400000">
              <a:srgbClr val="8A6E5C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37376" y="1847088"/>
            <a:ext cx="658368" cy="384048"/>
          </a:xfrm>
          <a:prstGeom prst="roundRect">
            <a:avLst>
              <a:gd name="adj" fmla="val 14286"/>
            </a:avLst>
          </a:prstGeom>
          <a:solidFill>
            <a:srgbClr val="9D4300"/>
          </a:solidFill>
          <a:ln w="12700">
            <a:solidFill>
              <a:srgbClr val="9D43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37376" y="1847088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E9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37376" y="2359152"/>
            <a:ext cx="2048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10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Abrir o topo do funil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37376" y="2816352"/>
            <a:ext cx="2048256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 grátis com limites por funcionalidade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Espanhol como terceiro idioma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formal de indicação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951976" y="1645920"/>
            <a:ext cx="2542032" cy="3108960"/>
          </a:xfrm>
          <a:prstGeom prst="roundRect">
            <a:avLst>
              <a:gd name="adj" fmla="val 3237"/>
            </a:avLst>
          </a:prstGeom>
          <a:solidFill>
            <a:srgbClr val="FAF3EC"/>
          </a:solidFill>
          <a:ln w="9525">
            <a:solidFill>
              <a:srgbClr val="E4D6C8"/>
            </a:solidFill>
            <a:prstDash val="solid"/>
          </a:ln>
          <a:effectLst>
            <a:outerShdw sx="100000" sy="100000" kx="0" ky="0" algn="bl" rotWithShape="0" blurRad="127000" dist="25400" dir="5400000">
              <a:srgbClr val="8A6E5C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08008" y="1847088"/>
            <a:ext cx="658368" cy="384048"/>
          </a:xfrm>
          <a:prstGeom prst="roundRect">
            <a:avLst>
              <a:gd name="adj" fmla="val 14286"/>
            </a:avLst>
          </a:prstGeom>
          <a:solidFill>
            <a:srgbClr val="9D4300"/>
          </a:solidFill>
          <a:ln w="12700">
            <a:solidFill>
              <a:srgbClr val="9D43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08008" y="1847088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E9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208008" y="2359152"/>
            <a:ext cx="2048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10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Vender para grupos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208008" y="2816352"/>
            <a:ext cx="2048256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Licença coletiva para igrejas e células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do líder com progresso do grupo</a:t>
            </a:r>
            <a:endParaRPr lang="en-US" sz="11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 teste sério de mídia paga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0080" y="5029200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Marcos são também gatilhos de liberação: o aporte pode ser parcelado contra T1 e T2.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710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ross-alpha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9966960" y="4800600"/>
            <a:ext cx="2468880" cy="24688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3840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5E9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proposta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640080" y="141732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C98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</a:t>
            </a:r>
            <a:endParaRPr lang="en-US" sz="9600" dirty="0"/>
          </a:p>
        </p:txBody>
      </p:sp>
      <p:sp>
        <p:nvSpPr>
          <p:cNvPr id="5" name="Text 2"/>
          <p:cNvSpPr/>
          <p:nvPr/>
        </p:nvSpPr>
        <p:spPr>
          <a:xfrm>
            <a:off x="640080" y="276148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5E9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capital do Jesus’ Corner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40080" y="32461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5E9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R$ 450 mil a R$ 900 mil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382219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0A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 pré-aporte implícito: R$ 1,5 milhão a R$ 3,0 milhões.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035040" y="1417320"/>
            <a:ext cx="5486400" cy="3108960"/>
          </a:xfrm>
          <a:prstGeom prst="roundRect">
            <a:avLst>
              <a:gd name="adj" fmla="val 2647"/>
            </a:avLst>
          </a:prstGeom>
          <a:solidFill>
            <a:srgbClr val="2A1712"/>
          </a:solidFill>
          <a:ln w="9525">
            <a:solidFill>
              <a:srgbClr val="4A2E2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55080" y="162763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98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se chega a essa faixa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355080" y="2103120"/>
            <a:ext cx="4846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0A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Piso — custo de reposição: refazer o app que existe hoje custa de R$ 350 a 500 mil em time sênior por 9 a 12 meses, sem contar licença de texto bíblico, marca e integrações de loja.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0A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Teto — comparáveis de estágio: rodadas pré-receita no Brasil, com produto pronto e mercado grande, costumam ficar entre R$ 2 e 4 milhões de pré-money. O desconto aqui é a ausência de tração publicada.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0A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empurra para o topo da faixa: primeiros números de retenção, aprovação nas duas lojas e o tier de IA no ar.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40080" y="4480560"/>
            <a:ext cx="5120640" cy="1051560"/>
          </a:xfrm>
          <a:prstGeom prst="roundRect">
            <a:avLst>
              <a:gd name="adj" fmla="val 7826"/>
            </a:avLst>
          </a:prstGeom>
          <a:solidFill>
            <a:srgbClr val="2A1712"/>
          </a:solidFill>
          <a:ln w="9525">
            <a:solidFill>
              <a:srgbClr val="4A2E2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32688" y="4480560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A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aberto a negociação: parcela única, duas tranches contra marcos, ou mútuo conversível.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0080" y="629107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Faixa de negociação estimada a partir do estágio e do custo de reposição — não é laudo de avaliação.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710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onde vai o dinheiro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969264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Doze meses de caixa, com a maior parte em aquisição de usuário.</a:t>
            </a:r>
            <a:endParaRPr lang="en-US" sz="14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554480"/>
          <a:ext cx="51206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852160" y="160020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9D4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675120" y="160020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710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 e aquisição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675120" y="1911096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ASO, criadores cristãos, programa de indicação e o primeiro teste de mídia paga depois da retenção medida.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852160" y="2496312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9D4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675120" y="249631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710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Produto e engenharia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675120" y="2807208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de IA, nível grátis, painel do líder e manutenção das três plataformas.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852160" y="3392424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9D4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15%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675120" y="339242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710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Conteúdo e licenças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675120" y="3703320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Novas versões bíblicas, terceiro idioma e produção de estudos.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852160" y="4288536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9D4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10%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675120" y="4288536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710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Infraestrutura e IA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6675120" y="4599432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Supabase, hospedagem, notificações e custo por conversa do agente.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852160" y="5184648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9D4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10%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6675120" y="518464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710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Jurídico e contábil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6675120" y="5495544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Societário, LGPD, contratos de licença e contabilidade.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710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Estrutura do negócio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969264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7A6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desenho sugerido para a operação — a ser fechado com advogado societário.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5349240" cy="2514600"/>
          </a:xfrm>
          <a:prstGeom prst="roundRect">
            <a:avLst>
              <a:gd name="adj" fmla="val 3273"/>
            </a:avLst>
          </a:prstGeom>
          <a:solidFill>
            <a:srgbClr val="F5E9DE"/>
          </a:solidFill>
          <a:ln w="9525">
            <a:solidFill>
              <a:srgbClr val="9D4300"/>
            </a:solidFill>
            <a:prstDash val="solid"/>
          </a:ln>
          <a:effectLst>
            <a:outerShdw sx="100000" sy="100000" kx="0" ky="0" algn="bl" rotWithShape="0" blurRad="127000" dist="25400" dir="5400000">
              <a:srgbClr val="8A6E5C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32688" y="1828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9D4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 investidor recebe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32688" y="2267712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das quotas da sociedade que detém o app, a marca e o código.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trimestral de métricas: assinantes, receita, cancelamento e caixa.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de acompanhar a venda (tag along) e preferência em nova rodada.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 sobre decisões estruturais: venda do app, novo sócio, mudança de objeto.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627632"/>
            <a:ext cx="5349240" cy="2514600"/>
          </a:xfrm>
          <a:prstGeom prst="roundRect">
            <a:avLst>
              <a:gd name="adj" fmla="val 3273"/>
            </a:avLst>
          </a:prstGeom>
          <a:solidFill>
            <a:srgbClr val="FAF3EC"/>
          </a:solidFill>
          <a:ln w="9525">
            <a:solidFill>
              <a:srgbClr val="E4D6C8"/>
            </a:solidFill>
            <a:prstDash val="solid"/>
          </a:ln>
          <a:effectLst>
            <a:outerShdw sx="100000" sy="100000" kx="0" ky="0" algn="bl" rotWithShape="0" blurRad="127000" dist="25400" dir="5400000">
              <a:srgbClr val="8A6E5C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64808" y="1828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10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permanece com o fundador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64808" y="2267712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do capital e o controle da sociedade.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do dia a dia e decisão final de produto e roadmap.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Autoria e continuidade do método — o ativo central do app.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Compromisso de dedicação, com vesting do fundador se o investidor pedir.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4370832"/>
            <a:ext cx="10881360" cy="1600200"/>
          </a:xfrm>
          <a:prstGeom prst="roundRect">
            <a:avLst>
              <a:gd name="adj" fmla="val 5143"/>
            </a:avLst>
          </a:prstGeom>
          <a:solidFill>
            <a:srgbClr val="FDF6EC"/>
          </a:solidFill>
          <a:ln w="9525">
            <a:solidFill>
              <a:srgbClr val="C98A3C"/>
            </a:solidFill>
            <a:prstDash val="solid"/>
          </a:ln>
          <a:effectLst>
            <a:outerShdw sx="100000" sy="100000" kx="0" ky="0" algn="bl" rotWithShape="0" blurRad="127000" dist="25400" dir="5400000">
              <a:srgbClr val="8A6E5C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05840" y="4535424"/>
            <a:ext cx="10149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C98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Sugestão de formato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005840" y="4882896"/>
            <a:ext cx="10149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Aporte em duas parcelas, liberadas contra marcos — a primeira na assinatura, a segunda na publicação nas duas lojas com a retenção de 30 dias medida. Formalização por contrato de compra e venda de quotas somado a acordo de sócios, ou por mútuo conversível se as partes preferirem adiar a definição do valuation. Revisão por advogado antes de qualquer assinatura.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710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ross-alpha.png">    </p:cNvPr>
          <p:cNvPicPr>
            <a:picLocks noChangeAspect="1"/>
          </p:cNvPicPr>
          <p:nvPr/>
        </p:nvPicPr>
        <p:blipFill>
          <a:blip r:embed="rId1">
            <a:alphaModFix amt="11000"/>
          </a:blip>
          <a:stretch>
            <a:fillRect/>
          </a:stretch>
        </p:blipFill>
        <p:spPr>
          <a:xfrm>
            <a:off x="8869680" y="1188720"/>
            <a:ext cx="3840480" cy="3840480"/>
          </a:xfrm>
          <a:prstGeom prst="rect">
            <a:avLst/>
          </a:prstGeom>
        </p:spPr>
      </p:pic>
      <p:pic>
        <p:nvPicPr>
          <p:cNvPr id="3" name="Image 1" descr="icon-51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1005840" cy="10058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251460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5E9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produto está pronto.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5E9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Falta combustível.</a:t>
            </a:r>
            <a:endParaRPr lang="en-US" sz="4200" dirty="0"/>
          </a:p>
        </p:txBody>
      </p:sp>
      <p:sp>
        <p:nvSpPr>
          <p:cNvPr id="5" name="Text 1"/>
          <p:cNvSpPr/>
          <p:nvPr/>
        </p:nvSpPr>
        <p:spPr>
          <a:xfrm>
            <a:off x="640080" y="416052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C0A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método, o código, as licenças e a cobrança já existem — foram 9 a 12 meses de trabalho entregues antes desta conversa. O que 30% compram não é a construção do app: é a velocidade de colocá-lo na frente de 147 milhões de pessoas.</a:t>
            </a:r>
            <a:endParaRPr lang="en-US" sz="1450" dirty="0"/>
          </a:p>
        </p:txBody>
      </p:sp>
      <p:sp>
        <p:nvSpPr>
          <p:cNvPr id="6" name="Shape 2"/>
          <p:cNvSpPr/>
          <p:nvPr/>
        </p:nvSpPr>
        <p:spPr>
          <a:xfrm>
            <a:off x="640080" y="5440680"/>
            <a:ext cx="6949440" cy="713232"/>
          </a:xfrm>
          <a:prstGeom prst="roundRect">
            <a:avLst>
              <a:gd name="adj" fmla="val 11538"/>
            </a:avLst>
          </a:prstGeom>
          <a:solidFill>
            <a:srgbClr val="2A1712"/>
          </a:solidFill>
          <a:ln w="12700">
            <a:solidFill>
              <a:srgbClr val="C98A3C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932688" y="5440680"/>
            <a:ext cx="6400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8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[seu nome] · [e-mail] · [telefone]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Jesus' Corner — proposta de participacao societaria</dc:title>
  <dc:subject>PptxGenJS Presentation</dc:subject>
  <dc:creator>Jesus' Corner</dc:creator>
  <cp:lastModifiedBy>Jesus' Corner</cp:lastModifiedBy>
  <cp:revision>1</cp:revision>
  <dcterms:created xsi:type="dcterms:W3CDTF">2026-08-23T17:49:20Z</dcterms:created>
  <dcterms:modified xsi:type="dcterms:W3CDTF">2026-08-23T17:49:20Z</dcterms:modified>
</cp:coreProperties>
</file>